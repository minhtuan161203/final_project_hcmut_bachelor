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75" r:id="rId4"/>
    <p:sldId id="264" r:id="rId5"/>
    <p:sldId id="276" r:id="rId6"/>
    <p:sldId id="281" r:id="rId7"/>
    <p:sldId id="283" r:id="rId8"/>
    <p:sldId id="282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8" r:id="rId17"/>
    <p:sldId id="300" r:id="rId18"/>
    <p:sldId id="295" r:id="rId19"/>
    <p:sldId id="299" r:id="rId20"/>
    <p:sldId id="301" r:id="rId21"/>
    <p:sldId id="302" r:id="rId22"/>
    <p:sldId id="303" r:id="rId23"/>
    <p:sldId id="29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140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6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974D5-05D1-4CD0-8BA4-E92A39A9EB52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5B080-6F60-41A3-897F-FD5BF43A8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232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C3E66-9809-4172-9F7F-3D85EEF02FC9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A9990-F6A6-4359-A9CC-A9F9DBB14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30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903435" y="5990605"/>
            <a:ext cx="3198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ĐẠI</a:t>
            </a:r>
            <a:r>
              <a:rPr lang="en-US" sz="1200" baseline="0" dirty="0">
                <a:solidFill>
                  <a:schemeClr val="accent1"/>
                </a:solidFill>
              </a:rPr>
              <a:t> HỌC QUỐC GIA THÀNH PHỐ HỒ CHÍ MINH</a:t>
            </a:r>
          </a:p>
          <a:p>
            <a:pPr algn="ctr"/>
            <a:r>
              <a:rPr lang="en-US" sz="1200" b="1" baseline="0" dirty="0">
                <a:solidFill>
                  <a:schemeClr val="accent1">
                    <a:lumMod val="50000"/>
                  </a:schemeClr>
                </a:solidFill>
              </a:rPr>
              <a:t>TRƯỜNG ĐẠI HỌC BÁCH KHOA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74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2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4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85059" y="1825625"/>
            <a:ext cx="0" cy="4222478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93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17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9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6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8651" y="1881156"/>
            <a:ext cx="2950369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85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28651" y="1881156"/>
            <a:ext cx="2950369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15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2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807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0"/>
            <a:ext cx="5256609" cy="6858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6317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9841" y="457203"/>
            <a:ext cx="2949178" cy="122137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28651" y="1881156"/>
            <a:ext cx="2950369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386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1321595" y="908228"/>
            <a:ext cx="3128963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0070C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8620" y="133350"/>
            <a:ext cx="5279231" cy="774878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321595" y="1038225"/>
            <a:ext cx="3186113" cy="774878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350" i="1"/>
            </a:lvl1pPr>
          </a:lstStyle>
          <a:p>
            <a:pPr lvl="0"/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2"/>
          </p:nvPr>
        </p:nvSpPr>
        <p:spPr>
          <a:xfrm>
            <a:off x="150020" y="1645006"/>
            <a:ext cx="5336381" cy="428907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1911" y="1645009"/>
            <a:ext cx="2949178" cy="5000091"/>
          </a:xfrm>
        </p:spPr>
        <p:txBody>
          <a:bodyPr/>
          <a:lstStyle>
            <a:lvl1pPr marL="0" indent="0">
              <a:buNone/>
              <a:defRPr sz="15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0199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991" y="0"/>
            <a:ext cx="914202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8000">
                <a:schemeClr val="bg1">
                  <a:alpha val="15000"/>
                </a:schemeClr>
              </a:gs>
              <a:gs pos="84000">
                <a:schemeClr val="bg2">
                  <a:alpha val="30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2665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56" r:id="rId12"/>
    <p:sldLayoutId id="2147483667" r:id="rId13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893519" y="1222022"/>
            <a:ext cx="7751141" cy="1082955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Arial" panose="020B0604020202020204" pitchFamily="34" charset="0"/>
              </a:rPr>
              <a:t>BÁO CÁO ĐỒ ÁN TỐT NGHIỆP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2249019" y="3859137"/>
            <a:ext cx="4645959" cy="96548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</a:rPr>
              <a:t>Sinh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</a:rPr>
              <a:t>Đặng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Hà</a:t>
            </a:r>
            <a:r>
              <a:rPr lang="en-US" dirty="0">
                <a:latin typeface="Arial" panose="020B0604020202020204" pitchFamily="34" charset="0"/>
              </a:rPr>
              <a:t> Minh </a:t>
            </a:r>
            <a:r>
              <a:rPr lang="en-US" dirty="0" err="1">
                <a:latin typeface="Arial" panose="020B0604020202020204" pitchFamily="34" charset="0"/>
              </a:rPr>
              <a:t>Tuấn</a:t>
            </a:r>
            <a:endParaRPr lang="en-US" dirty="0">
              <a:latin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</a:rPr>
              <a:t>MSSV: 2213764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161" y="144429"/>
            <a:ext cx="1014555" cy="92240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419" y="283802"/>
            <a:ext cx="1907671" cy="677146"/>
          </a:xfrm>
          <a:prstGeom prst="rect">
            <a:avLst/>
          </a:prstGeom>
        </p:spPr>
      </p:pic>
      <p:sp>
        <p:nvSpPr>
          <p:cNvPr id="10" name="Title 6">
            <a:extLst>
              <a:ext uri="{FF2B5EF4-FFF2-40B4-BE49-F238E27FC236}">
                <a16:creationId xmlns:a16="http://schemas.microsoft.com/office/drawing/2014/main" id="{DDBB4E8C-F649-4AF6-8BD6-607B335465BC}"/>
              </a:ext>
            </a:extLst>
          </p:cNvPr>
          <p:cNvSpPr txBox="1">
            <a:spLocks/>
          </p:cNvSpPr>
          <p:nvPr/>
        </p:nvSpPr>
        <p:spPr>
          <a:xfrm>
            <a:off x="1143000" y="1720720"/>
            <a:ext cx="6858000" cy="10829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/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3A32F59C-EB09-453A-A48E-CD75FDCEE4EA}"/>
              </a:ext>
            </a:extLst>
          </p:cNvPr>
          <p:cNvSpPr txBox="1">
            <a:spLocks/>
          </p:cNvSpPr>
          <p:nvPr/>
        </p:nvSpPr>
        <p:spPr>
          <a:xfrm>
            <a:off x="1508245" y="2119901"/>
            <a:ext cx="6492755" cy="108295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u="sng" dirty="0" err="1">
                <a:latin typeface="Arial" panose="020B0604020202020204" pitchFamily="34" charset="0"/>
              </a:rPr>
              <a:t>Đề</a:t>
            </a:r>
            <a:r>
              <a:rPr lang="en-US" sz="2400" u="sng" dirty="0">
                <a:latin typeface="Arial" panose="020B0604020202020204" pitchFamily="34" charset="0"/>
              </a:rPr>
              <a:t> </a:t>
            </a:r>
            <a:r>
              <a:rPr lang="en-US" sz="2400" u="sng" dirty="0" err="1">
                <a:latin typeface="Arial" panose="020B0604020202020204" pitchFamily="34" charset="0"/>
              </a:rPr>
              <a:t>tài</a:t>
            </a:r>
            <a:r>
              <a:rPr lang="en-US" sz="2400" dirty="0">
                <a:latin typeface="Arial" panose="020B0604020202020204" pitchFamily="34" charset="0"/>
              </a:rPr>
              <a:t>: </a:t>
            </a:r>
            <a:r>
              <a:rPr lang="vi-VN" sz="2400" dirty="0">
                <a:latin typeface="Arial" panose="020B0604020202020204" pitchFamily="34" charset="0"/>
              </a:rPr>
              <a:t>Ước lượng thông số và phát triển thuật toán Auto-tuning cho động cơ PMSM</a:t>
            </a:r>
            <a:endParaRPr lang="en-US" sz="2400" b="1" dirty="0">
              <a:latin typeface="Arial" panose="020B0604020202020204" pitchFamily="34" charset="0"/>
            </a:endParaRPr>
          </a:p>
        </p:txBody>
      </p:sp>
      <p:sp>
        <p:nvSpPr>
          <p:cNvPr id="14" name="Subtitle 7">
            <a:extLst>
              <a:ext uri="{FF2B5EF4-FFF2-40B4-BE49-F238E27FC236}">
                <a16:creationId xmlns:a16="http://schemas.microsoft.com/office/drawing/2014/main" id="{0AD681D5-0D37-40EF-A403-319970067E24}"/>
              </a:ext>
            </a:extLst>
          </p:cNvPr>
          <p:cNvSpPr txBox="1">
            <a:spLocks/>
          </p:cNvSpPr>
          <p:nvPr/>
        </p:nvSpPr>
        <p:spPr>
          <a:xfrm>
            <a:off x="1947515" y="4925086"/>
            <a:ext cx="5248969" cy="38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Arial" panose="020B0604020202020204" pitchFamily="34" charset="0"/>
              </a:rPr>
              <a:t>Giảng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</a:rPr>
              <a:t> H</a:t>
            </a:r>
            <a:r>
              <a:rPr lang="vi-VN" dirty="0">
                <a:latin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</a:rPr>
              <a:t>ớng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Dẫn</a:t>
            </a:r>
            <a:r>
              <a:rPr lang="en-US" dirty="0">
                <a:latin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</a:rPr>
              <a:t>TS.Nguyễn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Hoàng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Giáp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68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35373" y="403413"/>
            <a:ext cx="7041192" cy="932328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Arial" panose="020B0604020202020204" pitchFamily="34" charset="0"/>
              </a:rPr>
              <a:t>Nội</a:t>
            </a:r>
            <a:r>
              <a:rPr lang="en-US" sz="4000" b="1" dirty="0">
                <a:latin typeface="Arial" panose="020B0604020202020204" pitchFamily="34" charset="0"/>
              </a:rPr>
              <a:t> dung </a:t>
            </a:r>
            <a:r>
              <a:rPr lang="en-US" sz="4000" b="1" dirty="0" err="1">
                <a:latin typeface="Arial" panose="020B0604020202020204" pitchFamily="34" charset="0"/>
              </a:rPr>
              <a:t>trình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bày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62B1F-26B9-46E8-826C-099A952D93AC}"/>
              </a:ext>
            </a:extLst>
          </p:cNvPr>
          <p:cNvSpPr txBox="1"/>
          <p:nvPr/>
        </p:nvSpPr>
        <p:spPr>
          <a:xfrm>
            <a:off x="1766046" y="1269860"/>
            <a:ext cx="6177803" cy="5152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Đặt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vấn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đề</a:t>
            </a:r>
            <a:endParaRPr lang="en-US" sz="2800" dirty="0">
              <a:latin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Tổng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quan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kiến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trúc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hệ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thống</a:t>
            </a:r>
            <a:endParaRPr lang="en-US" sz="2800" dirty="0">
              <a:latin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Thuật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vi-VN" sz="2800" dirty="0">
                <a:latin typeface="Arial" panose="020B0604020202020204" pitchFamily="34" charset="0"/>
              </a:rPr>
              <a:t>ư</a:t>
            </a:r>
            <a:r>
              <a:rPr lang="en-US" sz="2800" dirty="0" err="1">
                <a:latin typeface="Arial" panose="020B0604020202020204" pitchFamily="34" charset="0"/>
              </a:rPr>
              <a:t>ớc</a:t>
            </a:r>
            <a:r>
              <a:rPr lang="en-US" sz="2800" dirty="0">
                <a:latin typeface="Arial" panose="020B0604020202020204" pitchFamily="34" charset="0"/>
              </a:rPr>
              <a:t> l</a:t>
            </a:r>
            <a:r>
              <a:rPr lang="vi-VN" sz="2800" dirty="0">
                <a:latin typeface="Arial" panose="020B0604020202020204" pitchFamily="34" charset="0"/>
              </a:rPr>
              <a:t>ư</a:t>
            </a:r>
            <a:r>
              <a:rPr lang="en-US" sz="2800" dirty="0" err="1">
                <a:latin typeface="Arial" panose="020B0604020202020204" pitchFamily="34" charset="0"/>
              </a:rPr>
              <a:t>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động</a:t>
            </a:r>
            <a:r>
              <a:rPr lang="en-US" sz="2800" dirty="0">
                <a:latin typeface="Arial" panose="020B0604020202020204" pitchFamily="34" charset="0"/>
              </a:rPr>
              <a:t> c</a:t>
            </a:r>
            <a:r>
              <a:rPr lang="vi-VN" sz="2800" dirty="0">
                <a:latin typeface="Arial" panose="020B0604020202020204" pitchFamily="34" charset="0"/>
              </a:rPr>
              <a:t>ơ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toán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bộ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điều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khiển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Khó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khăn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giải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pháp</a:t>
            </a:r>
            <a:endParaRPr lang="en-US" sz="2800" dirty="0">
              <a:latin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quả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thực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nghiệm</a:t>
            </a: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81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2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B80D5A66-D0C0-4072-89AD-D1C651812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373" y="403413"/>
            <a:ext cx="4593828" cy="760146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Arial" panose="020B0604020202020204" pitchFamily="34" charset="0"/>
              </a:rPr>
              <a:t>Đặt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vấn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đề</a:t>
            </a:r>
            <a:endParaRPr lang="en-US" sz="4000" b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15D496E-0991-4769-850A-8CB938EA9877}"/>
                  </a:ext>
                </a:extLst>
              </p:cNvPr>
              <p:cNvSpPr/>
              <p:nvPr/>
            </p:nvSpPr>
            <p:spPr>
              <a:xfrm>
                <a:off x="1192866" y="4859795"/>
                <a:ext cx="6758267" cy="12875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vi-VN" dirty="0">
                    <a:latin typeface="Arial" panose="020B0604020202020204" pitchFamily="34" charset="0"/>
                  </a:rPr>
                  <a:t>Để điều khiển FOC tốt, cần biết chính xác thông số động cơ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vi-V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vi-VN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vi-V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vi-VN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vi-VN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vi-VN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vi-VN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vi-VN" dirty="0">
                    <a:latin typeface="Arial" panose="020B0604020202020204" pitchFamily="34" charset="0"/>
                  </a:rPr>
                  <a:t>Tuy nhiên, thông số này bị thay đổi theo nhiệt độ/tải, và việc dò thông số thủ công (Manual tuning) rất mất thời gian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15D496E-0991-4769-850A-8CB938EA98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866" y="4859795"/>
                <a:ext cx="6758267" cy="1287532"/>
              </a:xfrm>
              <a:prstGeom prst="rect">
                <a:avLst/>
              </a:prstGeom>
              <a:blipFill>
                <a:blip r:embed="rId3"/>
                <a:stretch>
                  <a:fillRect l="-812" r="-1083" b="-7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 descr="A d-axis based current differential protection scheme for an active  distribution network | Protection and Control of Modern Power Systems |  Springer Nature Link">
            <a:extLst>
              <a:ext uri="{FF2B5EF4-FFF2-40B4-BE49-F238E27FC236}">
                <a16:creationId xmlns:a16="http://schemas.microsoft.com/office/drawing/2014/main" id="{5A811363-1879-48D1-8DBF-B9662417394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838" y="1032015"/>
            <a:ext cx="4761056" cy="332748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208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3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655CD5EF-9672-4765-8C51-9DC42DE8FDEB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Tổng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quan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kiến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trúc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hệ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thống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65055-F0DC-4E41-A9E1-02FBB4C57F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072" b="74551"/>
          <a:stretch/>
        </p:blipFill>
        <p:spPr>
          <a:xfrm>
            <a:off x="0" y="1362214"/>
            <a:ext cx="892589" cy="115543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7E43A0FE-9F65-4F5C-8E2F-D12E3F8DCC17}"/>
              </a:ext>
            </a:extLst>
          </p:cNvPr>
          <p:cNvSpPr txBox="1">
            <a:spLocks/>
          </p:cNvSpPr>
          <p:nvPr/>
        </p:nvSpPr>
        <p:spPr>
          <a:xfrm>
            <a:off x="2912409" y="5596205"/>
            <a:ext cx="3625639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sz="1800" b="1" dirty="0" err="1">
                <a:latin typeface="Arial" panose="020B0604020202020204" pitchFamily="34" charset="0"/>
              </a:rPr>
              <a:t>Kiến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</a:rPr>
              <a:t>trúc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</a:rPr>
              <a:t>điều</a:t>
            </a:r>
            <a:r>
              <a:rPr lang="en-US" sz="1800" b="1" dirty="0">
                <a:latin typeface="Arial" panose="020B0604020202020204" pitchFamily="34" charset="0"/>
              </a:rPr>
              <a:t> </a:t>
            </a:r>
            <a:r>
              <a:rPr lang="en-US" sz="1800" b="1" dirty="0" err="1">
                <a:latin typeface="Arial" panose="020B0604020202020204" pitchFamily="34" charset="0"/>
              </a:rPr>
              <a:t>khiển</a:t>
            </a:r>
            <a:r>
              <a:rPr lang="en-US" sz="1800" b="1" dirty="0">
                <a:latin typeface="Arial" panose="020B0604020202020204" pitchFamily="34" charset="0"/>
              </a:rPr>
              <a:t> Cascade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0093C3C-D344-4F76-95D8-F5693CEC50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832" y="1293755"/>
            <a:ext cx="7650792" cy="427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9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Thuật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toán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ớc</a:t>
            </a:r>
            <a:r>
              <a:rPr lang="en-US" sz="4000" b="1" dirty="0">
                <a:latin typeface="Arial" panose="020B0604020202020204" pitchFamily="34" charset="0"/>
              </a:rPr>
              <a:t> l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ợng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các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thông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động</a:t>
            </a:r>
            <a:r>
              <a:rPr lang="en-US" sz="4000" b="1" dirty="0">
                <a:latin typeface="Arial" panose="020B0604020202020204" pitchFamily="34" charset="0"/>
              </a:rPr>
              <a:t> c</a:t>
            </a:r>
            <a:r>
              <a:rPr lang="vi-VN" sz="4000" b="1" dirty="0">
                <a:latin typeface="Arial" panose="020B0604020202020204" pitchFamily="34" charset="0"/>
              </a:rPr>
              <a:t>ơ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1D56A-B662-4C45-90C3-89B3E7825810}"/>
              </a:ext>
            </a:extLst>
          </p:cNvPr>
          <p:cNvSpPr txBox="1"/>
          <p:nvPr/>
        </p:nvSpPr>
        <p:spPr>
          <a:xfrm>
            <a:off x="1675280" y="1839803"/>
            <a:ext cx="6177803" cy="4506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Ước</a:t>
            </a:r>
            <a:r>
              <a:rPr lang="en-US" sz="2800" dirty="0">
                <a:latin typeface="Arial" panose="020B0604020202020204" pitchFamily="34" charset="0"/>
              </a:rPr>
              <a:t> l</a:t>
            </a:r>
            <a:r>
              <a:rPr lang="vi-VN" sz="2800" dirty="0">
                <a:latin typeface="Arial" panose="020B0604020202020204" pitchFamily="34" charset="0"/>
              </a:rPr>
              <a:t>ư</a:t>
            </a:r>
            <a:r>
              <a:rPr lang="en-US" sz="2800" dirty="0" err="1">
                <a:latin typeface="Arial" panose="020B0604020202020204" pitchFamily="34" charset="0"/>
              </a:rPr>
              <a:t>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trở</a:t>
            </a:r>
            <a:r>
              <a:rPr lang="en-US" sz="2800" dirty="0">
                <a:latin typeface="Arial" panose="020B0604020202020204" pitchFamily="34" charset="0"/>
              </a:rPr>
              <a:t> Rs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Ước</a:t>
            </a:r>
            <a:r>
              <a:rPr lang="en-US" sz="2800" dirty="0">
                <a:latin typeface="Arial" panose="020B0604020202020204" pitchFamily="34" charset="0"/>
              </a:rPr>
              <a:t> l</a:t>
            </a:r>
            <a:r>
              <a:rPr lang="vi-VN" sz="2800" dirty="0">
                <a:latin typeface="Arial" panose="020B0604020202020204" pitchFamily="34" charset="0"/>
              </a:rPr>
              <a:t>ư</a:t>
            </a:r>
            <a:r>
              <a:rPr lang="en-US" sz="2800" dirty="0" err="1">
                <a:latin typeface="Arial" panose="020B0604020202020204" pitchFamily="34" charset="0"/>
              </a:rPr>
              <a:t>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điện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cảm</a:t>
            </a:r>
            <a:r>
              <a:rPr lang="en-US" sz="2800" dirty="0">
                <a:latin typeface="Arial" panose="020B0604020202020204" pitchFamily="34" charset="0"/>
              </a:rPr>
              <a:t> Ls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Ước</a:t>
            </a:r>
            <a:r>
              <a:rPr lang="en-US" sz="2800" dirty="0">
                <a:latin typeface="Arial" panose="020B0604020202020204" pitchFamily="34" charset="0"/>
              </a:rPr>
              <a:t> l</a:t>
            </a:r>
            <a:r>
              <a:rPr lang="vi-VN" sz="2800" dirty="0">
                <a:latin typeface="Arial" panose="020B0604020202020204" pitchFamily="34" charset="0"/>
              </a:rPr>
              <a:t>ư</a:t>
            </a:r>
            <a:r>
              <a:rPr lang="en-US" sz="2800" dirty="0" err="1">
                <a:latin typeface="Arial" panose="020B0604020202020204" pitchFamily="34" charset="0"/>
              </a:rPr>
              <a:t>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cặp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cực</a:t>
            </a:r>
            <a:r>
              <a:rPr lang="en-US" sz="2800" dirty="0">
                <a:latin typeface="Arial" panose="020B0604020202020204" pitchFamily="34" charset="0"/>
              </a:rPr>
              <a:t>, </a:t>
            </a:r>
            <a:r>
              <a:rPr lang="en-US" sz="2800" dirty="0" err="1">
                <a:latin typeface="Arial" panose="020B0604020202020204" pitchFamily="34" charset="0"/>
              </a:rPr>
              <a:t>hằng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số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mo</a:t>
            </a:r>
            <a:r>
              <a:rPr lang="en-US" sz="2800" dirty="0">
                <a:latin typeface="Arial" panose="020B0604020202020204" pitchFamily="34" charset="0"/>
              </a:rPr>
              <a:t>-men </a:t>
            </a:r>
            <a:r>
              <a:rPr lang="en-US" sz="2800" dirty="0" err="1">
                <a:latin typeface="Arial" panose="020B0604020202020204" pitchFamily="34" charset="0"/>
              </a:rPr>
              <a:t>Kt</a:t>
            </a:r>
            <a:endParaRPr lang="en-US" sz="2800" dirty="0">
              <a:latin typeface="Arial" panose="020B0604020202020204" pitchFamily="34" charset="0"/>
            </a:endParaRP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Ước</a:t>
            </a:r>
            <a:r>
              <a:rPr lang="en-US" sz="2800" dirty="0">
                <a:latin typeface="Arial" panose="020B0604020202020204" pitchFamily="34" charset="0"/>
              </a:rPr>
              <a:t> l</a:t>
            </a:r>
            <a:r>
              <a:rPr lang="vi-VN" sz="2800" dirty="0">
                <a:latin typeface="Arial" panose="020B0604020202020204" pitchFamily="34" charset="0"/>
              </a:rPr>
              <a:t>ư</a:t>
            </a:r>
            <a:r>
              <a:rPr lang="en-US" sz="2800" dirty="0" err="1">
                <a:latin typeface="Arial" panose="020B0604020202020204" pitchFamily="34" charset="0"/>
              </a:rPr>
              <a:t>ợng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mo</a:t>
            </a:r>
            <a:r>
              <a:rPr lang="en-US" sz="2800" dirty="0">
                <a:latin typeface="Arial" panose="020B0604020202020204" pitchFamily="34" charset="0"/>
              </a:rPr>
              <a:t>-men </a:t>
            </a:r>
            <a:r>
              <a:rPr lang="en-US" sz="2800" dirty="0" err="1">
                <a:latin typeface="Arial" panose="020B0604020202020204" pitchFamily="34" charset="0"/>
              </a:rPr>
              <a:t>quán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tính</a:t>
            </a:r>
            <a:r>
              <a:rPr lang="en-US" sz="2800" dirty="0">
                <a:latin typeface="Arial" panose="020B0604020202020204" pitchFamily="34" charset="0"/>
              </a:rPr>
              <a:t> J</a:t>
            </a:r>
          </a:p>
          <a:p>
            <a:pPr marL="514350" indent="-5143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2800" dirty="0" err="1">
                <a:latin typeface="Arial" panose="020B0604020202020204" pitchFamily="34" charset="0"/>
              </a:rPr>
              <a:t>Ước</a:t>
            </a:r>
            <a:r>
              <a:rPr lang="en-US" sz="2800" dirty="0">
                <a:latin typeface="Arial" panose="020B0604020202020204" pitchFamily="34" charset="0"/>
              </a:rPr>
              <a:t> l</a:t>
            </a:r>
            <a:r>
              <a:rPr lang="vi-VN" sz="2800" dirty="0">
                <a:latin typeface="Arial" panose="020B0604020202020204" pitchFamily="34" charset="0"/>
              </a:rPr>
              <a:t>ư</a:t>
            </a:r>
            <a:r>
              <a:rPr lang="en-US" sz="2800" dirty="0" err="1">
                <a:latin typeface="Arial" panose="020B0604020202020204" pitchFamily="34" charset="0"/>
              </a:rPr>
              <a:t>ợng</a:t>
            </a:r>
            <a:r>
              <a:rPr lang="en-US" sz="2800" dirty="0">
                <a:latin typeface="Arial" panose="020B0604020202020204" pitchFamily="34" charset="0"/>
              </a:rPr>
              <a:t> ma </a:t>
            </a:r>
            <a:r>
              <a:rPr lang="en-US" sz="2800" dirty="0" err="1">
                <a:latin typeface="Arial" panose="020B0604020202020204" pitchFamily="34" charset="0"/>
              </a:rPr>
              <a:t>sát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nhớt</a:t>
            </a:r>
            <a:r>
              <a:rPr lang="en-US" sz="2800" dirty="0">
                <a:latin typeface="Arial" panose="020B0604020202020204" pitchFamily="34" charset="0"/>
              </a:rPr>
              <a:t> B</a:t>
            </a:r>
          </a:p>
        </p:txBody>
      </p:sp>
    </p:spTree>
    <p:extLst>
      <p:ext uri="{BB962C8B-B14F-4D97-AF65-F5344CB8AC3E}">
        <p14:creationId xmlns:p14="http://schemas.microsoft.com/office/powerpoint/2010/main" val="359537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1" y="136524"/>
            <a:ext cx="8027309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Ước</a:t>
            </a:r>
            <a:r>
              <a:rPr lang="en-US" sz="4000" b="1" dirty="0">
                <a:latin typeface="Arial" panose="020B0604020202020204" pitchFamily="34" charset="0"/>
              </a:rPr>
              <a:t> l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ợng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thông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điện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trở</a:t>
            </a:r>
            <a:r>
              <a:rPr lang="en-US" sz="4000" b="1" dirty="0">
                <a:latin typeface="Arial" panose="020B0604020202020204" pitchFamily="34" charset="0"/>
              </a:rPr>
              <a:t> 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0F3B3-1E94-4958-A19C-D7E82FE9EDE2}"/>
              </a:ext>
            </a:extLst>
          </p:cNvPr>
          <p:cNvSpPr/>
          <p:nvPr/>
        </p:nvSpPr>
        <p:spPr>
          <a:xfrm>
            <a:off x="453301" y="1166842"/>
            <a:ext cx="831418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dirty="0">
                <a:solidFill>
                  <a:srgbClr val="121212"/>
                </a:solidFill>
                <a:latin typeface="Arial" panose="020B0604020202020204" pitchFamily="34" charset="0"/>
              </a:rPr>
              <a:t>Tại trạng thái xác lập và rotor đứng yên (</a:t>
            </a:r>
            <a:r>
              <a:rPr lang="el-GR" sz="3600" dirty="0">
                <a:solidFill>
                  <a:srgbClr val="121212"/>
                </a:solidFill>
                <a:latin typeface="Arial" panose="020B0604020202020204" pitchFamily="34" charset="0"/>
              </a:rPr>
              <a:t>ω</a:t>
            </a:r>
            <a:r>
              <a:rPr lang="vi-VN" sz="3600" dirty="0">
                <a:solidFill>
                  <a:srgbClr val="121212"/>
                </a:solidFill>
                <a:latin typeface="Arial" panose="020B0604020202020204" pitchFamily="34" charset="0"/>
              </a:rPr>
              <a:t>e = 0, iq = 0), mô hình động cơ được rút gọn thành:</a:t>
            </a:r>
            <a:endParaRPr lang="en-US" sz="3600" dirty="0">
              <a:solidFill>
                <a:srgbClr val="121212"/>
              </a:solidFill>
              <a:latin typeface="Arial" panose="020B0604020202020204" pitchFamily="34" charset="0"/>
            </a:endParaRPr>
          </a:p>
          <a:p>
            <a:endParaRPr lang="en-US" sz="3600" dirty="0">
              <a:solidFill>
                <a:srgbClr val="121212"/>
              </a:solidFill>
              <a:latin typeface="Arial" panose="020B0604020202020204" pitchFamily="34" charset="0"/>
            </a:endParaRPr>
          </a:p>
          <a:p>
            <a:endParaRPr lang="vi-VN" sz="3600" dirty="0">
              <a:solidFill>
                <a:srgbClr val="121212"/>
              </a:solidFill>
              <a:latin typeface="Arial" panose="020B0604020202020204" pitchFamily="34" charset="0"/>
            </a:endParaRPr>
          </a:p>
          <a:p>
            <a:endParaRPr lang="en-US" sz="3600" dirty="0">
              <a:solidFill>
                <a:srgbClr val="121212"/>
              </a:solidFill>
              <a:latin typeface="Arial" panose="020B0604020202020204" pitchFamily="34" charset="0"/>
            </a:endParaRPr>
          </a:p>
          <a:p>
            <a:r>
              <a:rPr lang="vi-VN" sz="3600" dirty="0">
                <a:solidFill>
                  <a:srgbClr val="121212"/>
                </a:solidFill>
                <a:latin typeface="Arial" panose="020B0604020202020204" pitchFamily="34" charset="0"/>
              </a:rPr>
              <a:t>Thực tế, điện áp tác động bị sai lệch bởi Dead-time và sụt áp van (Uerr).</a:t>
            </a:r>
            <a:endParaRPr lang="vi-VN" sz="3600" i="0" dirty="0">
              <a:solidFill>
                <a:srgbClr val="12121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8421AA-49FE-4520-8726-90B20AFAD38D}"/>
                  </a:ext>
                </a:extLst>
              </p:cNvPr>
              <p:cNvSpPr txBox="1"/>
              <p:nvPr/>
            </p:nvSpPr>
            <p:spPr>
              <a:xfrm>
                <a:off x="3002907" y="3306066"/>
                <a:ext cx="311214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8421AA-49FE-4520-8726-90B20AFAD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907" y="3306066"/>
                <a:ext cx="311214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CE02B2E4-6A18-4F29-8C9C-1FDB75CC6BAE}"/>
              </a:ext>
            </a:extLst>
          </p:cNvPr>
          <p:cNvSpPr/>
          <p:nvPr/>
        </p:nvSpPr>
        <p:spPr>
          <a:xfrm>
            <a:off x="3370729" y="3191435"/>
            <a:ext cx="2393577" cy="9233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70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1" y="136524"/>
            <a:ext cx="8027309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Ước</a:t>
            </a:r>
            <a:r>
              <a:rPr lang="en-US" sz="4000" b="1" dirty="0">
                <a:latin typeface="Arial" panose="020B0604020202020204" pitchFamily="34" charset="0"/>
              </a:rPr>
              <a:t> l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ợng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thông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điện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trở</a:t>
            </a:r>
            <a:r>
              <a:rPr lang="en-US" sz="4000" b="1" dirty="0">
                <a:latin typeface="Arial" panose="020B0604020202020204" pitchFamily="34" charset="0"/>
              </a:rPr>
              <a:t> 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0F3B3-1E94-4958-A19C-D7E82FE9EDE2}"/>
              </a:ext>
            </a:extLst>
          </p:cNvPr>
          <p:cNvSpPr/>
          <p:nvPr/>
        </p:nvSpPr>
        <p:spPr>
          <a:xfrm>
            <a:off x="829818" y="1040259"/>
            <a:ext cx="765079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200" dirty="0"/>
              <a:t>Để loại bỏ sai số phi tuyến Uerr, phương pháp calib Rs thực hiện bơm hai mức dòng điện khác nhau trên trục d:</a:t>
            </a:r>
            <a:endParaRPr lang="vi-VN" sz="4800" dirty="0"/>
          </a:p>
          <a:p>
            <a:br>
              <a:rPr lang="vi-VN" sz="4800" dirty="0"/>
            </a:br>
            <a:endParaRPr lang="vi-VN" sz="4800" i="0" dirty="0">
              <a:solidFill>
                <a:srgbClr val="121212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8421AA-49FE-4520-8726-90B20AFAD38D}"/>
                  </a:ext>
                </a:extLst>
              </p:cNvPr>
              <p:cNvSpPr txBox="1"/>
              <p:nvPr/>
            </p:nvSpPr>
            <p:spPr>
              <a:xfrm>
                <a:off x="1620528" y="2853152"/>
                <a:ext cx="5477704" cy="1184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8421AA-49FE-4520-8726-90B20AFAD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528" y="2853152"/>
                <a:ext cx="5477704" cy="11841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6955B25-65CD-4E42-92F0-B8889141B2FE}"/>
              </a:ext>
            </a:extLst>
          </p:cNvPr>
          <p:cNvSpPr/>
          <p:nvPr/>
        </p:nvSpPr>
        <p:spPr>
          <a:xfrm>
            <a:off x="829818" y="4308506"/>
            <a:ext cx="82245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200" dirty="0">
                <a:solidFill>
                  <a:srgbClr val="121212"/>
                </a:solidFill>
                <a:latin typeface="Arial" panose="020B0604020202020204" pitchFamily="34" charset="0"/>
              </a:rPr>
              <a:t>Triệt tiêu ảnh hưởng của Dead-time.</a:t>
            </a:r>
            <a:endParaRPr lang="vi-VN" sz="3200" dirty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0104B8-B8D1-4408-AD71-F837F8DC4D15}"/>
              </a:ext>
            </a:extLst>
          </p:cNvPr>
          <p:cNvSpPr/>
          <p:nvPr/>
        </p:nvSpPr>
        <p:spPr>
          <a:xfrm>
            <a:off x="829818" y="4965540"/>
            <a:ext cx="82245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Arial" panose="020B0604020202020204" pitchFamily="34" charset="0"/>
              </a:rPr>
              <a:t>Giảm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độ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nhạy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với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điện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áp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sai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lệch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cố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định</a:t>
            </a:r>
            <a:r>
              <a:rPr lang="en-US" sz="3200" dirty="0">
                <a:latin typeface="Arial" panose="020B0604020202020204" pitchFamily="34" charset="0"/>
              </a:rPr>
              <a:t>.</a:t>
            </a:r>
            <a:endParaRPr lang="en-US" sz="4800" dirty="0"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4F001D-5469-482B-A335-72316E252CA1}"/>
              </a:ext>
            </a:extLst>
          </p:cNvPr>
          <p:cNvSpPr/>
          <p:nvPr/>
        </p:nvSpPr>
        <p:spPr>
          <a:xfrm>
            <a:off x="2268071" y="2853152"/>
            <a:ext cx="4410635" cy="12564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8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Ước</a:t>
            </a:r>
            <a:r>
              <a:rPr lang="en-US" sz="4000" b="1" dirty="0">
                <a:latin typeface="Arial" panose="020B0604020202020204" pitchFamily="34" charset="0"/>
              </a:rPr>
              <a:t> l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ợng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thông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điện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cảm</a:t>
            </a:r>
            <a:r>
              <a:rPr lang="en-US" sz="4000" b="1" dirty="0">
                <a:latin typeface="Arial" panose="020B0604020202020204" pitchFamily="34" charset="0"/>
              </a:rPr>
              <a:t> 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0F3B3-1E94-4958-A19C-D7E82FE9EDE2}"/>
              </a:ext>
            </a:extLst>
          </p:cNvPr>
          <p:cNvSpPr/>
          <p:nvPr/>
        </p:nvSpPr>
        <p:spPr>
          <a:xfrm>
            <a:off x="829819" y="1687518"/>
            <a:ext cx="765079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latin typeface="Arial" panose="020B0604020202020204" pitchFamily="34" charset="0"/>
              </a:rPr>
              <a:t>Sử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dụng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tín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hiệu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xoay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chiều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hình</a:t>
            </a:r>
            <a:r>
              <a:rPr lang="en-US" sz="3200" dirty="0">
                <a:latin typeface="Arial" panose="020B0604020202020204" pitchFamily="34" charset="0"/>
              </a:rPr>
              <a:t> sin </a:t>
            </a:r>
            <a:r>
              <a:rPr lang="en-US" sz="3200" dirty="0" err="1">
                <a:latin typeface="Arial" panose="020B0604020202020204" pitchFamily="34" charset="0"/>
              </a:rPr>
              <a:t>tần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số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cao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để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kích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thích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</a:rPr>
              <a:t>trục</a:t>
            </a:r>
            <a:r>
              <a:rPr lang="en-US" sz="3200" dirty="0">
                <a:latin typeface="Arial" panose="020B0604020202020204" pitchFamily="34" charset="0"/>
              </a:rPr>
              <a:t> d </a:t>
            </a:r>
            <a:r>
              <a:rPr lang="en-US" sz="3200" dirty="0" err="1">
                <a:latin typeface="Arial" panose="020B0604020202020204" pitchFamily="34" charset="0"/>
              </a:rPr>
              <a:t>tại</a:t>
            </a:r>
            <a:r>
              <a:rPr lang="en-US" sz="3200" dirty="0">
                <a:latin typeface="Arial" panose="020B0604020202020204" pitchFamily="34" charset="0"/>
              </a:rPr>
              <a:t>:</a:t>
            </a:r>
            <a:endParaRPr lang="en-US" sz="48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8421AA-49FE-4520-8726-90B20AFAD38D}"/>
                  </a:ext>
                </a:extLst>
              </p:cNvPr>
              <p:cNvSpPr txBox="1"/>
              <p:nvPr/>
            </p:nvSpPr>
            <p:spPr>
              <a:xfrm>
                <a:off x="1577789" y="3138221"/>
                <a:ext cx="5863187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𝑝𝑒𝑎𝑘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𝑝𝑒𝑎𝑘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  <m:sSub>
                                    <m:sSubPr>
                                      <m:ctrlP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8421AA-49FE-4520-8726-90B20AFAD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789" y="3138221"/>
                <a:ext cx="5863187" cy="12772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CE02B2E4-6A18-4F29-8C9C-1FDB75CC6BAE}"/>
              </a:ext>
            </a:extLst>
          </p:cNvPr>
          <p:cNvSpPr/>
          <p:nvPr/>
        </p:nvSpPr>
        <p:spPr>
          <a:xfrm>
            <a:off x="1927411" y="2962947"/>
            <a:ext cx="5002307" cy="150147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DED43-4AC3-4D37-B9DD-43E3058F8A87}"/>
              </a:ext>
            </a:extLst>
          </p:cNvPr>
          <p:cNvSpPr/>
          <p:nvPr/>
        </p:nvSpPr>
        <p:spPr>
          <a:xfrm>
            <a:off x="829820" y="4663560"/>
            <a:ext cx="74894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121212"/>
                </a:solidFill>
                <a:latin typeface="Arial" panose="020B0604020202020204" pitchFamily="34" charset="0"/>
              </a:rPr>
              <a:t>Hệ</a:t>
            </a:r>
            <a:r>
              <a:rPr lang="en-US" sz="2400" dirty="0">
                <a:solidFill>
                  <a:srgbClr val="121212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Arial" panose="020B0604020202020204" pitchFamily="34" charset="0"/>
              </a:rPr>
              <a:t>thống</a:t>
            </a:r>
            <a:r>
              <a:rPr lang="vi-VN" sz="2400" dirty="0">
                <a:solidFill>
                  <a:srgbClr val="121212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Arial" panose="020B0604020202020204" pitchFamily="34" charset="0"/>
              </a:rPr>
              <a:t>trích</a:t>
            </a:r>
            <a:r>
              <a:rPr lang="en-US" sz="2400" dirty="0">
                <a:solidFill>
                  <a:srgbClr val="121212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Arial" panose="020B0604020202020204" pitchFamily="34" charset="0"/>
              </a:rPr>
              <a:t>xuất</a:t>
            </a:r>
            <a:r>
              <a:rPr lang="en-US" sz="2400" dirty="0">
                <a:solidFill>
                  <a:srgbClr val="121212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Arial" panose="020B0604020202020204" pitchFamily="34" charset="0"/>
              </a:rPr>
              <a:t>thành</a:t>
            </a:r>
            <a:r>
              <a:rPr lang="en-US" sz="2400" dirty="0">
                <a:solidFill>
                  <a:srgbClr val="121212"/>
                </a:solidFill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121212"/>
                </a:solidFill>
                <a:latin typeface="Arial" panose="020B0604020202020204" pitchFamily="34" charset="0"/>
              </a:rPr>
              <a:t>phần</a:t>
            </a:r>
            <a:r>
              <a:rPr lang="en-US" sz="2400" dirty="0">
                <a:solidFill>
                  <a:srgbClr val="121212"/>
                </a:solidFill>
                <a:latin typeface="Arial" panose="020B0604020202020204" pitchFamily="34" charset="0"/>
              </a:rPr>
              <a:t> </a:t>
            </a:r>
            <a:r>
              <a:rPr lang="vi-VN" sz="2400" dirty="0">
                <a:solidFill>
                  <a:srgbClr val="121212"/>
                </a:solidFill>
                <a:latin typeface="Arial" panose="020B0604020202020204" pitchFamily="34" charset="0"/>
              </a:rPr>
              <a:t>điện áp sin với biên độ đã biết, tính RMS của dòng trong cửa sổ đo, rồi quy đổi sang biên độ đỉnh để suy ra độ lớn trở kháng.</a:t>
            </a:r>
            <a:endParaRPr lang="vi-VN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18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Ước</a:t>
            </a:r>
            <a:r>
              <a:rPr lang="en-US" sz="4000" b="1" dirty="0">
                <a:latin typeface="Arial" panose="020B0604020202020204" pitchFamily="34" charset="0"/>
              </a:rPr>
              <a:t> l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ợng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cặp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cực</a:t>
            </a:r>
            <a:r>
              <a:rPr lang="en-US" sz="4000" b="1" dirty="0">
                <a:latin typeface="Arial" panose="020B0604020202020204" pitchFamily="34" charset="0"/>
              </a:rPr>
              <a:t>, </a:t>
            </a:r>
            <a:r>
              <a:rPr lang="en-US" sz="4000" b="1" dirty="0" err="1">
                <a:latin typeface="Arial" panose="020B0604020202020204" pitchFamily="34" charset="0"/>
              </a:rPr>
              <a:t>hằng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momen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Kt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0F3B3-1E94-4958-A19C-D7E82FE9EDE2}"/>
              </a:ext>
            </a:extLst>
          </p:cNvPr>
          <p:cNvSpPr/>
          <p:nvPr/>
        </p:nvSpPr>
        <p:spPr>
          <a:xfrm>
            <a:off x="1158980" y="1514310"/>
            <a:ext cx="6826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</a:rPr>
              <a:t>Cưỡng bức từ trường stator quay với tần số điện đã biết và theo dõi vị trí rotor qua encoder:</a:t>
            </a:r>
            <a:endParaRPr lang="vi-VN" sz="4400" dirty="0"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B79DA6-3DCD-48D7-BF61-2E9BFE5359D9}"/>
              </a:ext>
            </a:extLst>
          </p:cNvPr>
          <p:cNvGrpSpPr/>
          <p:nvPr/>
        </p:nvGrpSpPr>
        <p:grpSpPr>
          <a:xfrm>
            <a:off x="1528348" y="2766206"/>
            <a:ext cx="5863187" cy="1501478"/>
            <a:chOff x="1501454" y="2559536"/>
            <a:chExt cx="5863187" cy="15014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B8421AA-49FE-4520-8726-90B20AFAD38D}"/>
                    </a:ext>
                  </a:extLst>
                </p:cNvPr>
                <p:cNvSpPr txBox="1"/>
                <p:nvPr/>
              </p:nvSpPr>
              <p:spPr>
                <a:xfrm>
                  <a:off x="1501454" y="2773075"/>
                  <a:ext cx="5863187" cy="11431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B8421AA-49FE-4520-8726-90B20AFAD3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1454" y="2773075"/>
                  <a:ext cx="5863187" cy="114313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02B2E4-6A18-4F29-8C9C-1FDB75CC6BAE}"/>
                </a:ext>
              </a:extLst>
            </p:cNvPr>
            <p:cNvSpPr/>
            <p:nvPr/>
          </p:nvSpPr>
          <p:spPr>
            <a:xfrm>
              <a:off x="3424519" y="2559536"/>
              <a:ext cx="2017058" cy="150147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86DED43-4AC3-4D37-B9DD-43E3058F8A87}"/>
              </a:ext>
            </a:extLst>
          </p:cNvPr>
          <p:cNvSpPr/>
          <p:nvPr/>
        </p:nvSpPr>
        <p:spPr>
          <a:xfrm>
            <a:off x="1158981" y="4572473"/>
            <a:ext cx="67478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/>
              <a:t>Kết quả được làm tròn về số nguyên gần nhất để đồng bộ hóa góc điện cho FOC.</a:t>
            </a:r>
            <a:endParaRPr lang="vi-VN" sz="4000" dirty="0"/>
          </a:p>
        </p:txBody>
      </p:sp>
    </p:spTree>
    <p:extLst>
      <p:ext uri="{BB962C8B-B14F-4D97-AF65-F5344CB8AC3E}">
        <p14:creationId xmlns:p14="http://schemas.microsoft.com/office/powerpoint/2010/main" val="230398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Ước</a:t>
            </a:r>
            <a:r>
              <a:rPr lang="en-US" sz="4000" b="1" dirty="0">
                <a:latin typeface="Arial" panose="020B0604020202020204" pitchFamily="34" charset="0"/>
              </a:rPr>
              <a:t> l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ợng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cặp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cực</a:t>
            </a:r>
            <a:r>
              <a:rPr lang="en-US" sz="4000" b="1" dirty="0">
                <a:latin typeface="Arial" panose="020B0604020202020204" pitchFamily="34" charset="0"/>
              </a:rPr>
              <a:t>, </a:t>
            </a:r>
            <a:r>
              <a:rPr lang="en-US" sz="4000" b="1" dirty="0" err="1">
                <a:latin typeface="Arial" panose="020B0604020202020204" pitchFamily="34" charset="0"/>
              </a:rPr>
              <a:t>hằng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momen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Kt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0F3B3-1E94-4958-A19C-D7E82FE9EDE2}"/>
              </a:ext>
            </a:extLst>
          </p:cNvPr>
          <p:cNvSpPr/>
          <p:nvPr/>
        </p:nvSpPr>
        <p:spPr>
          <a:xfrm>
            <a:off x="1158980" y="1514310"/>
            <a:ext cx="6826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latin typeface="Arial" panose="020B0604020202020204" pitchFamily="34" charset="0"/>
              </a:rPr>
              <a:t>Xác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định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qua </a:t>
            </a:r>
            <a:r>
              <a:rPr lang="en-US" sz="2800" dirty="0" err="1">
                <a:latin typeface="Arial" panose="020B0604020202020204" pitchFamily="34" charset="0"/>
              </a:rPr>
              <a:t>chế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độ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chạy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không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tải</a:t>
            </a:r>
            <a:r>
              <a:rPr lang="en-US" sz="2800" dirty="0">
                <a:latin typeface="Arial" panose="020B0604020202020204" pitchFamily="34" charset="0"/>
              </a:rPr>
              <a:t> V/f </a:t>
            </a:r>
            <a:r>
              <a:rPr lang="en-US" sz="2800" dirty="0" err="1">
                <a:latin typeface="Arial" panose="020B0604020202020204" pitchFamily="34" charset="0"/>
              </a:rPr>
              <a:t>vòng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hở</a:t>
            </a:r>
            <a:r>
              <a:rPr lang="en-US" sz="2800" dirty="0">
                <a:latin typeface="Arial" panose="020B0604020202020204" pitchFamily="34" charset="0"/>
              </a:rPr>
              <a:t>. </a:t>
            </a:r>
            <a:r>
              <a:rPr lang="en-US" sz="2800" dirty="0" err="1">
                <a:latin typeface="Arial" panose="020B0604020202020204" pitchFamily="34" charset="0"/>
              </a:rPr>
              <a:t>Bù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sụt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áp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thuần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trở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trên</a:t>
            </a:r>
            <a:r>
              <a:rPr lang="en-US" sz="2800" dirty="0">
                <a:latin typeface="Arial" panose="020B0604020202020204" pitchFamily="34" charset="0"/>
              </a:rPr>
              <a:t> Rs </a:t>
            </a:r>
            <a:r>
              <a:rPr lang="en-US" sz="2800" dirty="0" err="1">
                <a:latin typeface="Arial" panose="020B0604020202020204" pitchFamily="34" charset="0"/>
              </a:rPr>
              <a:t>để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tìm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từ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thông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liên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kết</a:t>
            </a:r>
            <a:r>
              <a:rPr lang="en-US" sz="2800" dirty="0">
                <a:latin typeface="Arial" panose="020B0604020202020204" pitchFamily="34" charset="0"/>
              </a:rPr>
              <a:t> </a:t>
            </a:r>
            <a:r>
              <a:rPr lang="el-GR" sz="2800" dirty="0">
                <a:latin typeface="Arial" panose="020B0604020202020204" pitchFamily="34" charset="0"/>
              </a:rPr>
              <a:t>Ψ:</a:t>
            </a:r>
            <a:endParaRPr lang="el-GR" sz="4000" dirty="0"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B79DA6-3DCD-48D7-BF61-2E9BFE5359D9}"/>
              </a:ext>
            </a:extLst>
          </p:cNvPr>
          <p:cNvGrpSpPr/>
          <p:nvPr/>
        </p:nvGrpSpPr>
        <p:grpSpPr>
          <a:xfrm>
            <a:off x="1601332" y="2978337"/>
            <a:ext cx="5863187" cy="1501478"/>
            <a:chOff x="1501454" y="2559536"/>
            <a:chExt cx="5863187" cy="15014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B8421AA-49FE-4520-8726-90B20AFAD38D}"/>
                    </a:ext>
                  </a:extLst>
                </p:cNvPr>
                <p:cNvSpPr txBox="1"/>
                <p:nvPr/>
              </p:nvSpPr>
              <p:spPr>
                <a:xfrm>
                  <a:off x="1501454" y="2773075"/>
                  <a:ext cx="5863187" cy="10143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l-GR" sz="3200" dirty="0">
                            <a:latin typeface="Arial" panose="020B0604020202020204" pitchFamily="34" charset="0"/>
                          </a:rPr>
                          <m:t>Ψ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B8421AA-49FE-4520-8726-90B20AFAD3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1454" y="2773075"/>
                  <a:ext cx="5863187" cy="101431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02B2E4-6A18-4F29-8C9C-1FDB75CC6BAE}"/>
                </a:ext>
              </a:extLst>
            </p:cNvPr>
            <p:cNvSpPr/>
            <p:nvPr/>
          </p:nvSpPr>
          <p:spPr>
            <a:xfrm>
              <a:off x="3082593" y="2559536"/>
              <a:ext cx="2653553" cy="150147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786DED43-4AC3-4D37-B9DD-43E3058F8A87}"/>
              </a:ext>
            </a:extLst>
          </p:cNvPr>
          <p:cNvSpPr/>
          <p:nvPr/>
        </p:nvSpPr>
        <p:spPr>
          <a:xfrm>
            <a:off x="1158980" y="4727274"/>
            <a:ext cx="67478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</a:rPr>
              <a:t>Ke được đồng nhất với từ thông </a:t>
            </a:r>
            <a:r>
              <a:rPr lang="el-GR" sz="2800" dirty="0">
                <a:latin typeface="Arial" panose="020B0604020202020204" pitchFamily="34" charset="0"/>
              </a:rPr>
              <a:t>Ψ.</a:t>
            </a:r>
            <a:endParaRPr lang="el-GR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71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812592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Ước</a:t>
            </a:r>
            <a:r>
              <a:rPr lang="en-US" sz="4000" b="1" dirty="0">
                <a:latin typeface="Arial" panose="020B0604020202020204" pitchFamily="34" charset="0"/>
              </a:rPr>
              <a:t> l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ợng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momen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quán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tính</a:t>
            </a:r>
            <a:r>
              <a:rPr lang="en-US" sz="4000" b="1" dirty="0">
                <a:latin typeface="Arial" panose="020B0604020202020204" pitchFamily="34" charset="0"/>
              </a:rPr>
              <a:t> J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0F3B3-1E94-4958-A19C-D7E82FE9EDE2}"/>
              </a:ext>
            </a:extLst>
          </p:cNvPr>
          <p:cNvSpPr/>
          <p:nvPr/>
        </p:nvSpPr>
        <p:spPr>
          <a:xfrm>
            <a:off x="1099443" y="1222785"/>
            <a:ext cx="69451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</a:rPr>
              <a:t>Sử dụng phương pháp tích phân năng lượng để triệt tiêu ảnh hưởng ma sát và tải tĩnh khi chọn tín hiệu vận tốc dạng sóng sin:</a:t>
            </a:r>
            <a:endParaRPr lang="vi-VN" sz="4000" dirty="0"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B79DA6-3DCD-48D7-BF61-2E9BFE5359D9}"/>
              </a:ext>
            </a:extLst>
          </p:cNvPr>
          <p:cNvGrpSpPr/>
          <p:nvPr/>
        </p:nvGrpSpPr>
        <p:grpSpPr>
          <a:xfrm>
            <a:off x="1529614" y="2978336"/>
            <a:ext cx="5863187" cy="2155161"/>
            <a:chOff x="1429736" y="2559535"/>
            <a:chExt cx="5863187" cy="21551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B8421AA-49FE-4520-8726-90B20AFAD38D}"/>
                    </a:ext>
                  </a:extLst>
                </p:cNvPr>
                <p:cNvSpPr txBox="1"/>
                <p:nvPr/>
              </p:nvSpPr>
              <p:spPr>
                <a:xfrm>
                  <a:off x="1429736" y="2619866"/>
                  <a:ext cx="5863187" cy="19416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sSub>
                                      <m:sSubPr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</m:num>
                          <m:den>
                            <m:nary>
                              <m:naryPr>
                                <m:limLoc m:val="undOvr"/>
                                <m:subHide m:val="on"/>
                                <m:supHide m:val="on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32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3200" i="1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32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3200" i="1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3200" i="1">
                                                <a:latin typeface="Cambria Math" panose="02040503050406030204" pitchFamily="18" charset="0"/>
                                              </a:rPr>
                                              <m:t>𝑑𝑡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B8421AA-49FE-4520-8726-90B20AFAD3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9736" y="2619866"/>
                  <a:ext cx="5863187" cy="19416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02B2E4-6A18-4F29-8C9C-1FDB75CC6BAE}"/>
                </a:ext>
              </a:extLst>
            </p:cNvPr>
            <p:cNvSpPr/>
            <p:nvPr/>
          </p:nvSpPr>
          <p:spPr>
            <a:xfrm>
              <a:off x="2320593" y="2559535"/>
              <a:ext cx="4554070" cy="215516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6145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Ước</a:t>
            </a:r>
            <a:r>
              <a:rPr lang="en-US" sz="4000" b="1" dirty="0">
                <a:latin typeface="Arial" panose="020B0604020202020204" pitchFamily="34" charset="0"/>
              </a:rPr>
              <a:t> l</a:t>
            </a:r>
            <a:r>
              <a:rPr lang="vi-VN" sz="4000" b="1" dirty="0">
                <a:latin typeface="Arial" panose="020B0604020202020204" pitchFamily="34" charset="0"/>
              </a:rPr>
              <a:t>ư</a:t>
            </a:r>
            <a:r>
              <a:rPr lang="en-US" sz="4000" b="1" dirty="0" err="1">
                <a:latin typeface="Arial" panose="020B0604020202020204" pitchFamily="34" charset="0"/>
              </a:rPr>
              <a:t>ợng</a:t>
            </a:r>
            <a:r>
              <a:rPr lang="en-US" sz="4000" b="1" dirty="0">
                <a:latin typeface="Arial" panose="020B0604020202020204" pitchFamily="34" charset="0"/>
              </a:rPr>
              <a:t> ma </a:t>
            </a:r>
            <a:r>
              <a:rPr lang="en-US" sz="4000" b="1" dirty="0" err="1">
                <a:latin typeface="Arial" panose="020B0604020202020204" pitchFamily="34" charset="0"/>
              </a:rPr>
              <a:t>sát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nhớt</a:t>
            </a:r>
            <a:r>
              <a:rPr lang="en-US" sz="4000" b="1" dirty="0">
                <a:latin typeface="Arial" panose="020B0604020202020204" pitchFamily="34" charset="0"/>
              </a:rPr>
              <a:t> 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0F3B3-1E94-4958-A19C-D7E82FE9EDE2}"/>
              </a:ext>
            </a:extLst>
          </p:cNvPr>
          <p:cNvSpPr/>
          <p:nvPr/>
        </p:nvSpPr>
        <p:spPr>
          <a:xfrm>
            <a:off x="770963" y="1062984"/>
            <a:ext cx="711349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dirty="0">
                <a:latin typeface="Arial" panose="020B0604020202020204" pitchFamily="34" charset="0"/>
              </a:rPr>
              <a:t>Ma sát nhớt biểu thị tổn hao năng lượng tỉ lệ với vận tốc, ảnh hưởng đến sai số xác lập của vòng tốc độ.</a:t>
            </a:r>
            <a:endParaRPr lang="vi-VN" sz="4000" dirty="0">
              <a:latin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246DFB-D5E6-41D6-8B82-7067794D68DB}"/>
              </a:ext>
            </a:extLst>
          </p:cNvPr>
          <p:cNvGrpSpPr/>
          <p:nvPr/>
        </p:nvGrpSpPr>
        <p:grpSpPr>
          <a:xfrm>
            <a:off x="548165" y="4406218"/>
            <a:ext cx="8160665" cy="1618064"/>
            <a:chOff x="258605" y="4406218"/>
            <a:chExt cx="8160665" cy="12092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B8421AA-49FE-4520-8726-90B20AFAD38D}"/>
                    </a:ext>
                  </a:extLst>
                </p:cNvPr>
                <p:cNvSpPr txBox="1"/>
                <p:nvPr/>
              </p:nvSpPr>
              <p:spPr>
                <a:xfrm>
                  <a:off x="258605" y="4406218"/>
                  <a:ext cx="8160665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𝑎𝑙𝑝h𝑎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𝑜𝑚𝑒𝑔𝑎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𝑇𝑙𝑜𝑎𝑑𝑇𝑒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𝑎𝑙𝑝h𝑎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𝑜𝑚𝑒𝑔𝑎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𝑇𝑙𝑜𝑎𝑑</m:t>
                        </m:r>
                      </m:oMath>
                    </m:oMathPara>
                  </a14:m>
                  <a:endParaRPr dirty="0"/>
                </a:p>
                <a:p>
                  <a:endParaRPr lang="en-US" sz="32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B8421AA-49FE-4520-8726-90B20AFAD3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605" y="4406218"/>
                  <a:ext cx="8160665" cy="10772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02B2E4-6A18-4F29-8C9C-1FDB75CC6BAE}"/>
                </a:ext>
              </a:extLst>
            </p:cNvPr>
            <p:cNvSpPr/>
            <p:nvPr/>
          </p:nvSpPr>
          <p:spPr>
            <a:xfrm>
              <a:off x="601979" y="4406218"/>
              <a:ext cx="7360921" cy="120925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FC3FEE9-F151-44EF-BF4B-E5419E1843AE}"/>
              </a:ext>
            </a:extLst>
          </p:cNvPr>
          <p:cNvSpPr/>
          <p:nvPr/>
        </p:nvSpPr>
        <p:spPr>
          <a:xfrm>
            <a:off x="770963" y="2649881"/>
            <a:ext cx="788894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800" b="1" dirty="0">
                <a:solidFill>
                  <a:srgbClr val="121212"/>
                </a:solidFill>
                <a:latin typeface="Arial" panose="020B0604020202020204" pitchFamily="34" charset="0"/>
              </a:rPr>
              <a:t>Phương pháp:</a:t>
            </a:r>
            <a:r>
              <a:rPr lang="vi-VN" sz="2800" dirty="0">
                <a:solidFill>
                  <a:srgbClr val="121212"/>
                </a:solidFill>
                <a:latin typeface="Arial" panose="020B0604020202020204" pitchFamily="34" charset="0"/>
              </a:rPr>
              <a:t> </a:t>
            </a:r>
            <a:r>
              <a:rPr lang="vi-VN" sz="2400" dirty="0">
                <a:latin typeface="Arial" panose="020B0604020202020204" pitchFamily="34" charset="0"/>
              </a:rPr>
              <a:t>Sau khi đã ước lượng J, firmware tính torque dư y = Te - J*alpha, sau đó hồi quy tuyến tính theo mô hình y = B*omega + Tload để tách B khỏi mô-men tải</a:t>
            </a:r>
            <a:br>
              <a:rPr lang="vi-VN" sz="2800" dirty="0">
                <a:latin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01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Tính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toán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tham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số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bộ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điều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khiển</a:t>
            </a:r>
            <a:r>
              <a:rPr lang="en-US" sz="4000" b="1" dirty="0">
                <a:latin typeface="Arial" panose="020B0604020202020204" pitchFamily="34" charset="0"/>
              </a:rPr>
              <a:t> PI </a:t>
            </a:r>
            <a:r>
              <a:rPr lang="en-US" sz="4000" b="1" dirty="0" err="1">
                <a:latin typeface="Arial" panose="020B0604020202020204" pitchFamily="34" charset="0"/>
              </a:rPr>
              <a:t>các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vòng</a:t>
            </a:r>
            <a:endParaRPr lang="en-US" sz="4000" b="1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0228048-02B1-40B8-8817-32336A5DD8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5476799"/>
                  </p:ext>
                </p:extLst>
              </p:nvPr>
            </p:nvGraphicFramePr>
            <p:xfrm>
              <a:off x="1100417" y="1656976"/>
              <a:ext cx="7019364" cy="33407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9788">
                      <a:extLst>
                        <a:ext uri="{9D8B030D-6E8A-4147-A177-3AD203B41FA5}">
                          <a16:colId xmlns:a16="http://schemas.microsoft.com/office/drawing/2014/main" val="502446548"/>
                        </a:ext>
                      </a:extLst>
                    </a:gridCol>
                    <a:gridCol w="2339788">
                      <a:extLst>
                        <a:ext uri="{9D8B030D-6E8A-4147-A177-3AD203B41FA5}">
                          <a16:colId xmlns:a16="http://schemas.microsoft.com/office/drawing/2014/main" val="3940711272"/>
                        </a:ext>
                      </a:extLst>
                    </a:gridCol>
                    <a:gridCol w="2339788">
                      <a:extLst>
                        <a:ext uri="{9D8B030D-6E8A-4147-A177-3AD203B41FA5}">
                          <a16:colId xmlns:a16="http://schemas.microsoft.com/office/drawing/2014/main" val="4203316784"/>
                        </a:ext>
                      </a:extLst>
                    </a:gridCol>
                  </a:tblGrid>
                  <a:tr h="612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Vòng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điều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khiển</a:t>
                          </a:r>
                          <a:endParaRPr lang="en-US" sz="2400" b="1" baseline="0" dirty="0"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Hệ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số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tỉ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lệ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(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Kp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Hệ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số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tích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phân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(Ki)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8360513"/>
                      </a:ext>
                    </a:extLst>
                  </a:tr>
                  <a:tr h="61204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Dòng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điện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(Current)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aseline="0" dirty="0"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𝑐𝑐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aseline="0" dirty="0"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023598"/>
                      </a:ext>
                    </a:extLst>
                  </a:tr>
                  <a:tr h="810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Vận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tốc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(Speed)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sSub>
                                      <m:sSubPr>
                                        <m:ctrlP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𝑠𝑐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𝐾𝑡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baseline="0" dirty="0"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𝑠𝑐</m:t>
                                    </m:r>
                                  </m:sub>
                                </m:sSub>
                                <m:r>
                                  <a:rPr lang="en-US" sz="2400" b="0" i="1" baseline="0" smtClean="0">
                                    <a:latin typeface="Cambria Math" panose="02040503050406030204" pitchFamily="18" charset="0"/>
                                  </a:rPr>
                                  <m:t>.0,25</m:t>
                                </m:r>
                              </m:oMath>
                            </m:oMathPara>
                          </a14:m>
                          <a:endParaRPr lang="en-US" sz="2400" baseline="0" dirty="0"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5509874"/>
                      </a:ext>
                    </a:extLst>
                  </a:tr>
                  <a:tr h="8718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Vị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trí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(Position)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𝑒𝑛𝑐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2400" b="0" i="1" baseline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𝑝𝑐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aseline="0" dirty="0"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60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en-US" sz="2400" b="0" i="1" baseline="0" smtClean="0">
                                            <a:latin typeface="Cambria Math" panose="02040503050406030204" pitchFamily="18" charset="0"/>
                                          </a:rPr>
                                          <m:t>𝑒𝑛𝑐</m:t>
                                        </m:r>
                                      </m:sub>
                                    </m:sSub>
                                  </m:den>
                                </m:f>
                                <m:sSubSup>
                                  <m:sSubSupPr>
                                    <m:ctrlP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𝑝𝑐</m:t>
                                    </m:r>
                                  </m:sub>
                                  <m:sup>
                                    <m:r>
                                      <a:rPr lang="en-US" sz="2400" b="0" i="1" baseline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2400" baseline="0" dirty="0"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172103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0228048-02B1-40B8-8817-32336A5DD8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5476799"/>
                  </p:ext>
                </p:extLst>
              </p:nvPr>
            </p:nvGraphicFramePr>
            <p:xfrm>
              <a:off x="1100417" y="1656976"/>
              <a:ext cx="7019364" cy="33407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9788">
                      <a:extLst>
                        <a:ext uri="{9D8B030D-6E8A-4147-A177-3AD203B41FA5}">
                          <a16:colId xmlns:a16="http://schemas.microsoft.com/office/drawing/2014/main" val="502446548"/>
                        </a:ext>
                      </a:extLst>
                    </a:gridCol>
                    <a:gridCol w="2339788">
                      <a:extLst>
                        <a:ext uri="{9D8B030D-6E8A-4147-A177-3AD203B41FA5}">
                          <a16:colId xmlns:a16="http://schemas.microsoft.com/office/drawing/2014/main" val="3940711272"/>
                        </a:ext>
                      </a:extLst>
                    </a:gridCol>
                    <a:gridCol w="2339788">
                      <a:extLst>
                        <a:ext uri="{9D8B030D-6E8A-4147-A177-3AD203B41FA5}">
                          <a16:colId xmlns:a16="http://schemas.microsoft.com/office/drawing/2014/main" val="4203316784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Vòng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điều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khiển</a:t>
                          </a:r>
                          <a:endParaRPr lang="en-US" sz="2400" b="1" baseline="0" dirty="0">
                            <a:latin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Hệ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số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tỉ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lệ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(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Kp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Hệ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số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tích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="1" baseline="0" dirty="0" err="1">
                              <a:latin typeface="Arial" panose="020B0604020202020204" pitchFamily="34" charset="0"/>
                            </a:rPr>
                            <a:t>phân</a:t>
                          </a:r>
                          <a:r>
                            <a:rPr lang="en-US" sz="2400" b="1" baseline="0" dirty="0">
                              <a:latin typeface="Arial" panose="020B0604020202020204" pitchFamily="34" charset="0"/>
                            </a:rPr>
                            <a:t> (Ki)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8360513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Dòng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điện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(Current)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60" t="-104444" r="-101302" b="-208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60" t="-104444" r="-1302" b="-208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2359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Vận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tốc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(Speed)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60" t="-202941" r="-101302" b="-106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60" t="-202941" r="-1302" b="-1066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5509874"/>
                      </a:ext>
                    </a:extLst>
                  </a:tr>
                  <a:tr h="8718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Vị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</a:t>
                          </a:r>
                          <a:r>
                            <a:rPr lang="en-US" sz="2400" baseline="0" dirty="0" err="1">
                              <a:latin typeface="Arial" panose="020B0604020202020204" pitchFamily="34" charset="0"/>
                            </a:rPr>
                            <a:t>trí</a:t>
                          </a:r>
                          <a:r>
                            <a:rPr lang="en-US" sz="2400" baseline="0" dirty="0">
                              <a:latin typeface="Arial" panose="020B0604020202020204" pitchFamily="34" charset="0"/>
                            </a:rPr>
                            <a:t> (Position)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260" t="-288112" r="-101302" b="-13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260" t="-288112" r="-1302" b="-13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72103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DDBE1FA-A8D2-4611-A54D-CC6EB0BD456A}"/>
                  </a:ext>
                </a:extLst>
              </p:cNvPr>
              <p:cNvSpPr/>
              <p:nvPr/>
            </p:nvSpPr>
            <p:spPr>
              <a:xfrm>
                <a:off x="453302" y="5339292"/>
                <a:ext cx="7888941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vi-VN" i="1" dirty="0">
                    <a:latin typeface="Arial" panose="020B0604020202020204" pitchFamily="34" charset="0"/>
                  </a:rPr>
                  <a:t>Băng thông (</a:t>
                </a:r>
                <a:r>
                  <a:rPr lang="el-GR" i="1" dirty="0">
                    <a:latin typeface="Arial" panose="020B0604020202020204" pitchFamily="34" charset="0"/>
                  </a:rPr>
                  <a:t>ω) </a:t>
                </a:r>
                <a:r>
                  <a:rPr lang="vi-VN" i="1" dirty="0">
                    <a:latin typeface="Arial" panose="020B0604020202020204" pitchFamily="34" charset="0"/>
                  </a:rPr>
                  <a:t>được áp đặt dựa trên yêu cầu đặc tính động học của ứng dụng.</a:t>
                </a:r>
                <a:endParaRPr lang="en-US" i="1" dirty="0">
                  <a:latin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US" b="0" dirty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𝑒𝑛𝑐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</a:rPr>
                  <a:t>độ</a:t>
                </a:r>
                <a:r>
                  <a:rPr lang="en-US" dirty="0">
                    <a:latin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</a:rPr>
                  <a:t>phân</a:t>
                </a:r>
                <a:r>
                  <a:rPr lang="en-US" dirty="0">
                    <a:latin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</a:rPr>
                  <a:t>giải</a:t>
                </a:r>
                <a:r>
                  <a:rPr lang="en-US" dirty="0">
                    <a:latin typeface="Arial" panose="020B0604020202020204" pitchFamily="34" charset="0"/>
                  </a:rPr>
                  <a:t> </a:t>
                </a:r>
                <a:r>
                  <a:rPr lang="en-US" dirty="0" err="1">
                    <a:latin typeface="Arial" panose="020B0604020202020204" pitchFamily="34" charset="0"/>
                  </a:rPr>
                  <a:t>của</a:t>
                </a:r>
                <a:r>
                  <a:rPr lang="en-US" dirty="0">
                    <a:latin typeface="Arial" panose="020B0604020202020204" pitchFamily="34" charset="0"/>
                  </a:rPr>
                  <a:t> encoder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DDBE1FA-A8D2-4611-A54D-CC6EB0BD4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02" y="5339292"/>
                <a:ext cx="7888941" cy="923330"/>
              </a:xfrm>
              <a:prstGeom prst="rect">
                <a:avLst/>
              </a:prstGeom>
              <a:blipFill>
                <a:blip r:embed="rId4"/>
                <a:stretch>
                  <a:fillRect l="-464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28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DBE1FA-A8D2-4611-A54D-CC6EB0BD456A}"/>
              </a:ext>
            </a:extLst>
          </p:cNvPr>
          <p:cNvSpPr/>
          <p:nvPr/>
        </p:nvSpPr>
        <p:spPr>
          <a:xfrm>
            <a:off x="453302" y="869975"/>
            <a:ext cx="78889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nghiệm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hệ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hộp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</a:rPr>
              <a:t> c</a:t>
            </a:r>
            <a:r>
              <a:rPr lang="vi-VN" dirty="0">
                <a:latin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nh</a:t>
            </a:r>
            <a:r>
              <a:rPr lang="vi-VN" dirty="0">
                <a:latin typeface="Arial" panose="020B0604020202020204" pitchFamily="34" charset="0"/>
              </a:rPr>
              <a:t>ư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bảng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09CA02-CDC7-4FF6-920E-3A31F883D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68" y="3260426"/>
            <a:ext cx="3719408" cy="3556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B9985B-3463-4857-80DA-A4E917113B1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63364" y="-357852"/>
            <a:ext cx="1830668" cy="521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6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DBE1FA-A8D2-4611-A54D-CC6EB0BD456A}"/>
              </a:ext>
            </a:extLst>
          </p:cNvPr>
          <p:cNvSpPr/>
          <p:nvPr/>
        </p:nvSpPr>
        <p:spPr>
          <a:xfrm>
            <a:off x="453302" y="896670"/>
            <a:ext cx="78889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</a:rPr>
              <a:t> c</a:t>
            </a:r>
            <a:r>
              <a:rPr lang="vi-VN" dirty="0">
                <a:latin typeface="Arial" panose="020B0604020202020204" pitchFamily="34" charset="0"/>
              </a:rPr>
              <a:t>ơ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vi-VN" dirty="0">
                <a:latin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</a:rPr>
              <a:t>ớc</a:t>
            </a:r>
            <a:r>
              <a:rPr lang="en-US" dirty="0">
                <a:latin typeface="Arial" panose="020B0604020202020204" pitchFamily="34" charset="0"/>
              </a:rPr>
              <a:t> l</a:t>
            </a:r>
            <a:r>
              <a:rPr lang="vi-VN" dirty="0">
                <a:latin typeface="Arial" panose="020B0604020202020204" pitchFamily="34" charset="0"/>
              </a:rPr>
              <a:t>ư</a:t>
            </a:r>
            <a:r>
              <a:rPr lang="en-US" dirty="0" err="1">
                <a:latin typeface="Arial" panose="020B0604020202020204" pitchFamily="34" charset="0"/>
              </a:rPr>
              <a:t>ợng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quả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nh</a:t>
            </a:r>
            <a:r>
              <a:rPr lang="vi-VN" dirty="0">
                <a:latin typeface="Arial" panose="020B0604020202020204" pitchFamily="34" charset="0"/>
              </a:rPr>
              <a:t>ư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bảng</a:t>
            </a:r>
            <a:r>
              <a:rPr lang="en-US" dirty="0"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2C42C2-8CF8-49EC-90C6-CBEEC2EED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051129"/>
              </p:ext>
            </p:extLst>
          </p:nvPr>
        </p:nvGraphicFramePr>
        <p:xfrm>
          <a:off x="489745" y="1440436"/>
          <a:ext cx="8010324" cy="4878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90036">
                  <a:extLst>
                    <a:ext uri="{9D8B030D-6E8A-4147-A177-3AD203B41FA5}">
                      <a16:colId xmlns:a16="http://schemas.microsoft.com/office/drawing/2014/main" val="1505545531"/>
                    </a:ext>
                  </a:extLst>
                </a:gridCol>
                <a:gridCol w="890036">
                  <a:extLst>
                    <a:ext uri="{9D8B030D-6E8A-4147-A177-3AD203B41FA5}">
                      <a16:colId xmlns:a16="http://schemas.microsoft.com/office/drawing/2014/main" val="1560307480"/>
                    </a:ext>
                  </a:extLst>
                </a:gridCol>
                <a:gridCol w="890036">
                  <a:extLst>
                    <a:ext uri="{9D8B030D-6E8A-4147-A177-3AD203B41FA5}">
                      <a16:colId xmlns:a16="http://schemas.microsoft.com/office/drawing/2014/main" val="2871653634"/>
                    </a:ext>
                  </a:extLst>
                </a:gridCol>
                <a:gridCol w="890036">
                  <a:extLst>
                    <a:ext uri="{9D8B030D-6E8A-4147-A177-3AD203B41FA5}">
                      <a16:colId xmlns:a16="http://schemas.microsoft.com/office/drawing/2014/main" val="1419329723"/>
                    </a:ext>
                  </a:extLst>
                </a:gridCol>
                <a:gridCol w="890036">
                  <a:extLst>
                    <a:ext uri="{9D8B030D-6E8A-4147-A177-3AD203B41FA5}">
                      <a16:colId xmlns:a16="http://schemas.microsoft.com/office/drawing/2014/main" val="2192162768"/>
                    </a:ext>
                  </a:extLst>
                </a:gridCol>
                <a:gridCol w="890036">
                  <a:extLst>
                    <a:ext uri="{9D8B030D-6E8A-4147-A177-3AD203B41FA5}">
                      <a16:colId xmlns:a16="http://schemas.microsoft.com/office/drawing/2014/main" val="2277939655"/>
                    </a:ext>
                  </a:extLst>
                </a:gridCol>
                <a:gridCol w="890036">
                  <a:extLst>
                    <a:ext uri="{9D8B030D-6E8A-4147-A177-3AD203B41FA5}">
                      <a16:colId xmlns:a16="http://schemas.microsoft.com/office/drawing/2014/main" val="876128862"/>
                    </a:ext>
                  </a:extLst>
                </a:gridCol>
                <a:gridCol w="890036">
                  <a:extLst>
                    <a:ext uri="{9D8B030D-6E8A-4147-A177-3AD203B41FA5}">
                      <a16:colId xmlns:a16="http://schemas.microsoft.com/office/drawing/2014/main" val="1782944098"/>
                    </a:ext>
                  </a:extLst>
                </a:gridCol>
                <a:gridCol w="890036">
                  <a:extLst>
                    <a:ext uri="{9D8B030D-6E8A-4147-A177-3AD203B41FA5}">
                      <a16:colId xmlns:a16="http://schemas.microsoft.com/office/drawing/2014/main" val="526161569"/>
                    </a:ext>
                  </a:extLst>
                </a:gridCol>
              </a:tblGrid>
              <a:tr h="448719">
                <a:tc>
                  <a:txBody>
                    <a:bodyPr/>
                    <a:lstStyle/>
                    <a:p>
                      <a:pPr rtl="0"/>
                      <a:r>
                        <a:rPr lang="vi-VN" sz="1200" b="1" dirty="0">
                          <a:effectLst/>
                        </a:rPr>
                        <a:t>Thông số động cơ Zhongke</a:t>
                      </a:r>
                      <a:endParaRPr lang="vi-VN" sz="12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 err="1">
                          <a:effectLst/>
                        </a:rPr>
                        <a:t>Giá</a:t>
                      </a:r>
                      <a:r>
                        <a:rPr lang="en-US" sz="1800" b="1" dirty="0">
                          <a:effectLst/>
                        </a:rPr>
                        <a:t> </a:t>
                      </a:r>
                      <a:r>
                        <a:rPr lang="en-US" sz="1800" b="1" dirty="0" err="1">
                          <a:effectLst/>
                        </a:rPr>
                        <a:t>trị</a:t>
                      </a:r>
                      <a:r>
                        <a:rPr lang="en-US" sz="1800" b="1" dirty="0">
                          <a:effectLst/>
                        </a:rPr>
                        <a:t> </a:t>
                      </a:r>
                      <a:r>
                        <a:rPr lang="en-US" sz="1800" b="1" dirty="0" err="1">
                          <a:effectLst/>
                        </a:rPr>
                        <a:t>thật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 err="1">
                          <a:effectLst/>
                        </a:rPr>
                        <a:t>Lần</a:t>
                      </a:r>
                      <a:r>
                        <a:rPr lang="en-US" sz="1800" b="1" dirty="0">
                          <a:effectLst/>
                        </a:rPr>
                        <a:t> 1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 err="1">
                          <a:effectLst/>
                        </a:rPr>
                        <a:t>Lần</a:t>
                      </a:r>
                      <a:r>
                        <a:rPr lang="en-US" sz="1800" b="1" dirty="0">
                          <a:effectLst/>
                        </a:rPr>
                        <a:t> 2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 err="1">
                          <a:effectLst/>
                        </a:rPr>
                        <a:t>Lần</a:t>
                      </a:r>
                      <a:r>
                        <a:rPr lang="en-US" sz="1800" b="1" dirty="0">
                          <a:effectLst/>
                        </a:rPr>
                        <a:t> 3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 err="1">
                          <a:effectLst/>
                        </a:rPr>
                        <a:t>Lần</a:t>
                      </a:r>
                      <a:r>
                        <a:rPr lang="en-US" sz="1800" b="1" dirty="0">
                          <a:effectLst/>
                        </a:rPr>
                        <a:t> 4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 err="1">
                          <a:effectLst/>
                        </a:rPr>
                        <a:t>Lần</a:t>
                      </a:r>
                      <a:r>
                        <a:rPr lang="en-US" sz="1800" b="1" dirty="0">
                          <a:effectLst/>
                        </a:rPr>
                        <a:t> 5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 err="1">
                          <a:effectLst/>
                        </a:rPr>
                        <a:t>Trung</a:t>
                      </a:r>
                      <a:r>
                        <a:rPr lang="en-US" sz="1800" b="1" dirty="0">
                          <a:effectLst/>
                        </a:rPr>
                        <a:t> </a:t>
                      </a:r>
                      <a:r>
                        <a:rPr lang="en-US" sz="1800" b="1" dirty="0" err="1">
                          <a:effectLst/>
                        </a:rPr>
                        <a:t>Bình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effectLst/>
                        </a:rPr>
                        <a:t>Sai </a:t>
                      </a:r>
                      <a:r>
                        <a:rPr lang="en-US" sz="1800" b="1" dirty="0" err="1">
                          <a:effectLst/>
                        </a:rPr>
                        <a:t>số</a:t>
                      </a:r>
                      <a:r>
                        <a:rPr lang="en-US" sz="1800" b="1" dirty="0">
                          <a:effectLst/>
                        </a:rPr>
                        <a:t> (%)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49400" marB="65867" anchor="ctr"/>
                </a:tc>
                <a:extLst>
                  <a:ext uri="{0D108BD9-81ED-4DB2-BD59-A6C34878D82A}">
                    <a16:rowId xmlns:a16="http://schemas.microsoft.com/office/drawing/2014/main" val="2400084963"/>
                  </a:ext>
                </a:extLst>
              </a:tr>
              <a:tr h="798637">
                <a:tc>
                  <a:txBody>
                    <a:bodyPr/>
                    <a:lstStyle/>
                    <a:p>
                      <a:pPr rtl="0"/>
                      <a:r>
                        <a:rPr lang="pt-BR" sz="1200" b="1" dirty="0">
                          <a:effectLst/>
                        </a:rPr>
                        <a:t>Điện trở pha stator Rs (ohm)</a:t>
                      </a:r>
                      <a:endParaRPr lang="pt-BR" sz="12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2.4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2.3002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2.2483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2.256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2.249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2.16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2.2427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6.55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extLst>
                  <a:ext uri="{0D108BD9-81ED-4DB2-BD59-A6C34878D82A}">
                    <a16:rowId xmlns:a16="http://schemas.microsoft.com/office/drawing/2014/main" val="3994593030"/>
                  </a:ext>
                </a:extLst>
              </a:tr>
              <a:tr h="687487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 err="1">
                          <a:effectLst/>
                        </a:rPr>
                        <a:t>Điện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cảm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pha</a:t>
                      </a:r>
                      <a:r>
                        <a:rPr lang="en-US" sz="1200" b="1" dirty="0">
                          <a:effectLst/>
                        </a:rPr>
                        <a:t> stator Ls (</a:t>
                      </a:r>
                      <a:r>
                        <a:rPr lang="en-US" sz="1200" b="1" dirty="0" err="1">
                          <a:effectLst/>
                        </a:rPr>
                        <a:t>mH</a:t>
                      </a:r>
                      <a:r>
                        <a:rPr lang="en-US" sz="1200" b="1" dirty="0">
                          <a:effectLst/>
                        </a:rPr>
                        <a:t>)</a:t>
                      </a:r>
                      <a:endParaRPr lang="en-US" sz="12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4.547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4.621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4.569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4.604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4.464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4.5610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extLst>
                  <a:ext uri="{0D108BD9-81ED-4DB2-BD59-A6C34878D82A}">
                    <a16:rowId xmlns:a16="http://schemas.microsoft.com/office/drawing/2014/main" val="1310209046"/>
                  </a:ext>
                </a:extLst>
              </a:tr>
              <a:tr h="465186">
                <a:tc>
                  <a:txBody>
                    <a:bodyPr/>
                    <a:lstStyle/>
                    <a:p>
                      <a:pPr rtl="0"/>
                      <a:r>
                        <a:rPr lang="pt-BR" sz="1200" b="1" dirty="0">
                          <a:effectLst/>
                        </a:rPr>
                        <a:t>Số cặp cực np</a:t>
                      </a:r>
                      <a:endParaRPr lang="pt-BR" sz="12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5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0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extLst>
                  <a:ext uri="{0D108BD9-81ED-4DB2-BD59-A6C34878D82A}">
                    <a16:rowId xmlns:a16="http://schemas.microsoft.com/office/drawing/2014/main" val="4235179263"/>
                  </a:ext>
                </a:extLst>
              </a:tr>
              <a:tr h="687487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 err="1">
                          <a:effectLst/>
                        </a:rPr>
                        <a:t>Hằng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số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momen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xoắn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Kt</a:t>
                      </a:r>
                      <a:r>
                        <a:rPr lang="en-US" sz="1200" b="1">
                          <a:effectLst/>
                        </a:rPr>
                        <a:t> (Nm/A)</a:t>
                      </a:r>
                      <a:endParaRPr lang="en-US" sz="12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0.44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0.6593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0.6643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0.6638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0.6644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0.6668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0.6637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50.85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extLst>
                  <a:ext uri="{0D108BD9-81ED-4DB2-BD59-A6C34878D82A}">
                    <a16:rowId xmlns:a16="http://schemas.microsoft.com/office/drawing/2014/main" val="2571119423"/>
                  </a:ext>
                </a:extLst>
              </a:tr>
              <a:tr h="576336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 err="1">
                          <a:effectLst/>
                        </a:rPr>
                        <a:t>Mômen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quán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tính</a:t>
                      </a:r>
                      <a:r>
                        <a:rPr lang="en-US" sz="1200" b="1" dirty="0">
                          <a:effectLst/>
                        </a:rPr>
                        <a:t> J (</a:t>
                      </a:r>
                      <a:r>
                        <a:rPr lang="en-US" sz="1200" b="1" dirty="0"/>
                        <a:t>kg.m²)</a:t>
                      </a:r>
                      <a:endParaRPr lang="en-US" sz="12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3.591e-04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3.562e-04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3.576e-04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3.801e-04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3.831e-04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3.677e-04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extLst>
                  <a:ext uri="{0D108BD9-81ED-4DB2-BD59-A6C34878D82A}">
                    <a16:rowId xmlns:a16="http://schemas.microsoft.com/office/drawing/2014/main" val="2360305367"/>
                  </a:ext>
                </a:extLst>
              </a:tr>
              <a:tr h="687487">
                <a:tc>
                  <a:txBody>
                    <a:bodyPr/>
                    <a:lstStyle/>
                    <a:p>
                      <a:pPr rtl="0"/>
                      <a:r>
                        <a:rPr lang="en-US" sz="1200" b="1" dirty="0" err="1">
                          <a:effectLst/>
                        </a:rPr>
                        <a:t>Hệ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số</a:t>
                      </a:r>
                      <a:r>
                        <a:rPr lang="en-US" sz="1200" b="1" dirty="0">
                          <a:effectLst/>
                        </a:rPr>
                        <a:t> ma </a:t>
                      </a:r>
                      <a:r>
                        <a:rPr lang="en-US" sz="1200" b="1" dirty="0" err="1">
                          <a:effectLst/>
                        </a:rPr>
                        <a:t>sát</a:t>
                      </a:r>
                      <a:r>
                        <a:rPr lang="en-US" sz="1200" b="1" dirty="0">
                          <a:effectLst/>
                        </a:rPr>
                        <a:t> </a:t>
                      </a:r>
                      <a:r>
                        <a:rPr lang="en-US" sz="1200" b="1" dirty="0" err="1">
                          <a:effectLst/>
                        </a:rPr>
                        <a:t>nhớt</a:t>
                      </a:r>
                      <a:r>
                        <a:rPr lang="en-US" sz="1200" b="1" dirty="0">
                          <a:effectLst/>
                        </a:rPr>
                        <a:t> B (</a:t>
                      </a:r>
                      <a:r>
                        <a:rPr lang="en-US" sz="1200" b="1" dirty="0" err="1">
                          <a:effectLst/>
                        </a:rPr>
                        <a:t>N.m.s</a:t>
                      </a:r>
                      <a:r>
                        <a:rPr lang="en-US" sz="1200" b="1" dirty="0">
                          <a:effectLst/>
                        </a:rPr>
                        <a:t>/rad)</a:t>
                      </a:r>
                      <a:endParaRPr lang="en-US" sz="12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X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5.932e-03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5.988e-03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5.931e-03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>
                          <a:effectLst/>
                        </a:rPr>
                        <a:t>5.950e-03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5.860e-03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5.933e-03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800" dirty="0">
                          <a:effectLst/>
                        </a:rPr>
                        <a:t>X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9400" marR="49400" marT="65867" marB="65867" anchor="ctr"/>
                </a:tc>
                <a:extLst>
                  <a:ext uri="{0D108BD9-81ED-4DB2-BD59-A6C34878D82A}">
                    <a16:rowId xmlns:a16="http://schemas.microsoft.com/office/drawing/2014/main" val="3651721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2446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A797E-287E-49DC-A0AC-AFE98DD066F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2825" y="1054051"/>
            <a:ext cx="7075563" cy="48815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FCD2E5-5B8B-4D55-B835-C3345E92D1B2}"/>
              </a:ext>
            </a:extLst>
          </p:cNvPr>
          <p:cNvSpPr/>
          <p:nvPr/>
        </p:nvSpPr>
        <p:spPr>
          <a:xfrm>
            <a:off x="2181826" y="5961330"/>
            <a:ext cx="53069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Đồ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thị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đáp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ứng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tốc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độ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có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tải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tại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giá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trị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đặt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300 rpm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130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6A6C9-EE6C-44FF-8FC2-F556C34841D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46604" y="1091414"/>
            <a:ext cx="7650792" cy="46751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45B5F4-9CC0-49F9-9652-F8670FA87950}"/>
              </a:ext>
            </a:extLst>
          </p:cNvPr>
          <p:cNvSpPr/>
          <p:nvPr/>
        </p:nvSpPr>
        <p:spPr>
          <a:xfrm>
            <a:off x="2494345" y="582482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Đáp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ứng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vị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trí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của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động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cơ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có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tải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ở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chế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độ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single-turn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với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tín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hiệu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đặt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dạng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bậc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thang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32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85470-DCA0-483F-8D49-D2E4EB795EA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46604" y="1110931"/>
            <a:ext cx="7650792" cy="482688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D10D3AF-53AF-47CC-A12E-EF07B71CED6B}"/>
              </a:ext>
            </a:extLst>
          </p:cNvPr>
          <p:cNvSpPr/>
          <p:nvPr/>
        </p:nvSpPr>
        <p:spPr>
          <a:xfrm>
            <a:off x="1932972" y="5987019"/>
            <a:ext cx="56600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Đáp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ứng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vị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trí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của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động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cơ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có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tải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ở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chế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latin typeface="Arial" panose="020B0604020202020204" pitchFamily="34" charset="0"/>
                <a:ea typeface="Times New Roman" panose="02020603050405020304" pitchFamily="18" charset="0"/>
              </a:rPr>
              <a:t>độ</a:t>
            </a:r>
            <a:r>
              <a:rPr lang="en-US" i="1" dirty="0">
                <a:latin typeface="Arial" panose="020B0604020202020204" pitchFamily="34" charset="0"/>
                <a:ea typeface="Times New Roman" panose="02020603050405020304" pitchFamily="18" charset="0"/>
              </a:rPr>
              <a:t> multi-turn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66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10D3AF-53AF-47CC-A12E-EF07B71CED6B}"/>
              </a:ext>
            </a:extLst>
          </p:cNvPr>
          <p:cNvSpPr/>
          <p:nvPr/>
        </p:nvSpPr>
        <p:spPr>
          <a:xfrm>
            <a:off x="1064871" y="5987019"/>
            <a:ext cx="70392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 err="1"/>
              <a:t>Đáp</a:t>
            </a:r>
            <a:r>
              <a:rPr lang="en-US" sz="2000" i="1" dirty="0"/>
              <a:t> </a:t>
            </a:r>
            <a:r>
              <a:rPr lang="en-US" sz="2000" i="1" dirty="0" err="1"/>
              <a:t>ứng</a:t>
            </a:r>
            <a:r>
              <a:rPr lang="en-US" sz="2000" i="1" dirty="0"/>
              <a:t> </a:t>
            </a:r>
            <a:r>
              <a:rPr lang="en-US" sz="2000" i="1" dirty="0" err="1"/>
              <a:t>vị</a:t>
            </a:r>
            <a:r>
              <a:rPr lang="en-US" sz="2000" i="1" dirty="0"/>
              <a:t> </a:t>
            </a:r>
            <a:r>
              <a:rPr lang="en-US" sz="2000" i="1" dirty="0" err="1"/>
              <a:t>trí</a:t>
            </a:r>
            <a:r>
              <a:rPr lang="en-US" sz="2000" i="1" dirty="0"/>
              <a:t> qua </a:t>
            </a:r>
            <a:r>
              <a:rPr lang="en-US" sz="2000" i="1" dirty="0" err="1"/>
              <a:t>lại</a:t>
            </a:r>
            <a:r>
              <a:rPr lang="en-US" sz="2000" i="1" dirty="0"/>
              <a:t> </a:t>
            </a:r>
            <a:r>
              <a:rPr lang="en-US" sz="2000" i="1" dirty="0" err="1"/>
              <a:t>giữa</a:t>
            </a:r>
            <a:r>
              <a:rPr lang="en-US" sz="2000" i="1" dirty="0"/>
              <a:t> </a:t>
            </a:r>
            <a:r>
              <a:rPr lang="en-US" sz="2000" i="1" dirty="0" err="1"/>
              <a:t>hai</a:t>
            </a:r>
            <a:r>
              <a:rPr lang="en-US" sz="2000" i="1" dirty="0"/>
              <a:t> </a:t>
            </a:r>
            <a:r>
              <a:rPr lang="en-US" sz="2000" i="1" dirty="0" err="1"/>
              <a:t>vị</a:t>
            </a:r>
            <a:r>
              <a:rPr lang="en-US" sz="2000" i="1" dirty="0"/>
              <a:t> </a:t>
            </a:r>
            <a:r>
              <a:rPr lang="en-US" sz="2000" i="1" dirty="0" err="1"/>
              <a:t>trí</a:t>
            </a:r>
            <a:r>
              <a:rPr lang="en-US" sz="2000" i="1" dirty="0"/>
              <a:t> 180° </a:t>
            </a:r>
            <a:r>
              <a:rPr lang="en-US" sz="2000" i="1" dirty="0" err="1"/>
              <a:t>và</a:t>
            </a:r>
            <a:r>
              <a:rPr lang="en-US" sz="2000" i="1" dirty="0"/>
              <a:t> 270° </a:t>
            </a:r>
            <a:r>
              <a:rPr lang="en-US" sz="2000" i="1" dirty="0" err="1"/>
              <a:t>trong</a:t>
            </a:r>
            <a:r>
              <a:rPr lang="en-US" sz="2000" i="1" dirty="0"/>
              <a:t> 10 chu </a:t>
            </a:r>
            <a:r>
              <a:rPr lang="en-US" sz="2000" i="1" dirty="0" err="1"/>
              <a:t>kỳ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F03F1-D4D9-4A4B-AEFF-E5CD33C5668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80003" y="1056171"/>
            <a:ext cx="7983994" cy="474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3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4128F-21C0-4F80-8960-1BCB2C19E9C7}"/>
              </a:ext>
            </a:extLst>
          </p:cNvPr>
          <p:cNvSpPr/>
          <p:nvPr/>
        </p:nvSpPr>
        <p:spPr>
          <a:xfrm>
            <a:off x="1899397" y="5870317"/>
            <a:ext cx="641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</a:rPr>
              <a:t>Đồ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thị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đáp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ứng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dòng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điện</a:t>
            </a:r>
            <a:r>
              <a:rPr lang="en-US" i="1" dirty="0">
                <a:latin typeface="Arial" panose="020B0604020202020204" pitchFamily="34" charset="0"/>
              </a:rPr>
              <a:t> 3 </a:t>
            </a:r>
            <a:r>
              <a:rPr lang="en-US" i="1" dirty="0" err="1">
                <a:latin typeface="Arial" panose="020B0604020202020204" pitchFamily="34" charset="0"/>
              </a:rPr>
              <a:t>pha</a:t>
            </a:r>
            <a:r>
              <a:rPr lang="en-US" i="1" dirty="0">
                <a:latin typeface="Arial" panose="020B0604020202020204" pitchFamily="34" charset="0"/>
              </a:rPr>
              <a:t> (</a:t>
            </a:r>
            <a:r>
              <a:rPr lang="en-US" i="1" dirty="0" err="1">
                <a:latin typeface="Arial" panose="020B0604020202020204" pitchFamily="34" charset="0"/>
              </a:rPr>
              <a:t>Iu</a:t>
            </a:r>
            <a:r>
              <a:rPr lang="en-US" i="1" dirty="0">
                <a:latin typeface="Arial" panose="020B0604020202020204" pitchFamily="34" charset="0"/>
              </a:rPr>
              <a:t>, Iv, </a:t>
            </a:r>
            <a:r>
              <a:rPr lang="en-US" i="1" dirty="0" err="1">
                <a:latin typeface="Arial" panose="020B0604020202020204" pitchFamily="34" charset="0"/>
              </a:rPr>
              <a:t>Iw</a:t>
            </a:r>
            <a:r>
              <a:rPr lang="en-US" i="1" dirty="0">
                <a:latin typeface="Arial" panose="020B0604020202020204" pitchFamily="34" charset="0"/>
              </a:rPr>
              <a:t>) </a:t>
            </a:r>
            <a:r>
              <a:rPr lang="en-US" i="1" dirty="0" err="1">
                <a:latin typeface="Arial" panose="020B0604020202020204" pitchFamily="34" charset="0"/>
              </a:rPr>
              <a:t>của</a:t>
            </a:r>
            <a:r>
              <a:rPr lang="en-US" i="1" dirty="0">
                <a:latin typeface="Arial" panose="020B0604020202020204" pitchFamily="34" charset="0"/>
              </a:rPr>
              <a:t> stator</a:t>
            </a:r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CCB5C-3287-47F3-A2D5-8CC55201B8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4195"/>
            <a:ext cx="9144000" cy="456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3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4128F-21C0-4F80-8960-1BCB2C19E9C7}"/>
              </a:ext>
            </a:extLst>
          </p:cNvPr>
          <p:cNvSpPr/>
          <p:nvPr/>
        </p:nvSpPr>
        <p:spPr>
          <a:xfrm>
            <a:off x="1371601" y="5607211"/>
            <a:ext cx="69465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</a:rPr>
              <a:t>Đồ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thị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đáp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ứng</a:t>
            </a:r>
            <a:r>
              <a:rPr lang="en-US" i="1" dirty="0">
                <a:latin typeface="Arial" panose="020B0604020202020204" pitchFamily="34" charset="0"/>
              </a:rPr>
              <a:t> b</a:t>
            </a:r>
            <a:r>
              <a:rPr lang="vi-VN" i="1" dirty="0">
                <a:latin typeface="Arial" panose="020B0604020202020204" pitchFamily="34" charset="0"/>
              </a:rPr>
              <a:t>ư</a:t>
            </a:r>
            <a:r>
              <a:rPr lang="en-US" i="1" dirty="0" err="1">
                <a:latin typeface="Arial" panose="020B0604020202020204" pitchFamily="34" charset="0"/>
              </a:rPr>
              <a:t>ớc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của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vòng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điều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khiển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dòng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điện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trục</a:t>
            </a:r>
            <a:r>
              <a:rPr lang="en-US" i="1" dirty="0">
                <a:latin typeface="Arial" panose="020B0604020202020204" pitchFamily="34" charset="0"/>
              </a:rPr>
              <a:t> d (Id)</a:t>
            </a:r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9107C-2058-430F-AC55-6C27F30DA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3934"/>
            <a:ext cx="9144000" cy="41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5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DB5AF31-CAB2-4A49-AFF9-5102C375329E}"/>
              </a:ext>
            </a:extLst>
          </p:cNvPr>
          <p:cNvSpPr txBox="1">
            <a:spLocks/>
          </p:cNvSpPr>
          <p:nvPr/>
        </p:nvSpPr>
        <p:spPr>
          <a:xfrm>
            <a:off x="453302" y="136524"/>
            <a:ext cx="7650792" cy="760146"/>
          </a:xfrm>
          <a:prstGeom prst="rect">
            <a:avLst/>
          </a:prstGeom>
        </p:spPr>
        <p:txBody>
          <a:bodyPr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b="1" dirty="0" err="1">
                <a:latin typeface="Arial" panose="020B0604020202020204" pitchFamily="34" charset="0"/>
              </a:rPr>
              <a:t>Kết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quả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thực</a:t>
            </a:r>
            <a:r>
              <a:rPr lang="en-US" sz="4000" b="1" dirty="0">
                <a:latin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</a:rPr>
              <a:t>nghiệm</a:t>
            </a:r>
            <a:endParaRPr lang="en-US" sz="4000" b="1" dirty="0"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F4128F-21C0-4F80-8960-1BCB2C19E9C7}"/>
              </a:ext>
            </a:extLst>
          </p:cNvPr>
          <p:cNvSpPr/>
          <p:nvPr/>
        </p:nvSpPr>
        <p:spPr>
          <a:xfrm>
            <a:off x="1416424" y="5860686"/>
            <a:ext cx="61845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dirty="0"/>
              <a:t>Đồ thị đáp ứng bám dòng điện trong hệ tọa độ d-q (</a:t>
            </a:r>
            <a:r>
              <a:rPr lang="en-US" dirty="0"/>
              <a:t>Id</a:t>
            </a:r>
            <a:r>
              <a:rPr lang="vi-VN" dirty="0"/>
              <a:t>, I</a:t>
            </a:r>
            <a:r>
              <a:rPr lang="en-US" dirty="0"/>
              <a:t>q</a:t>
            </a:r>
            <a:r>
              <a:rPr lang="vi-VN" dirty="0"/>
              <a:t>) khi động cơ hoạt động</a:t>
            </a:r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753CF5-66A4-4D7E-A269-A848F4A00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6635"/>
            <a:ext cx="9144000" cy="448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43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sz="1100" b="1">
                <a:solidFill>
                  <a:schemeClr val="tx1"/>
                </a:solidFill>
              </a:rPr>
              <a:t>4</a:t>
            </a:r>
            <a:endParaRPr lang="en-US" sz="11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DBE1FA-A8D2-4611-A54D-CC6EB0BD456A}"/>
              </a:ext>
            </a:extLst>
          </p:cNvPr>
          <p:cNvSpPr/>
          <p:nvPr/>
        </p:nvSpPr>
        <p:spPr>
          <a:xfrm>
            <a:off x="545900" y="1713445"/>
            <a:ext cx="7888941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vi-VN" sz="6600" b="1" dirty="0"/>
              <a:t>HỎI &amp; ĐÁP</a:t>
            </a:r>
            <a:endParaRPr lang="en-US" sz="6600" b="1" dirty="0"/>
          </a:p>
          <a:p>
            <a:pPr algn="ctr"/>
            <a:endParaRPr lang="vi-VN" sz="4000" b="1" dirty="0"/>
          </a:p>
          <a:p>
            <a:pPr algn="ctr"/>
            <a:r>
              <a:rPr lang="vi-VN" sz="4000" dirty="0"/>
              <a:t>Em xin chân thành cảm ơn Quý hội đồng đã lắng nghe!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196BB-82BE-4990-8D51-638A760AFF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1599" y="568689"/>
            <a:ext cx="1014555" cy="922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86696B-D32D-4A30-AEC3-493FB48CA1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857" y="708062"/>
            <a:ext cx="1907671" cy="67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0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2333</TotalTime>
  <Words>1100</Words>
  <Application>Microsoft Office PowerPoint</Application>
  <PresentationFormat>On-screen Show (4:3)</PresentationFormat>
  <Paragraphs>174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Google Sans Text</vt:lpstr>
      <vt:lpstr>Times New Roman</vt:lpstr>
      <vt:lpstr>Wingdings</vt:lpstr>
      <vt:lpstr>Office Theme</vt:lpstr>
      <vt:lpstr>BÁO CÁO ĐỒ ÁN TỐT NGHIỆP</vt:lpstr>
      <vt:lpstr>Nội dung trình bày</vt:lpstr>
      <vt:lpstr>Đặt vấn đề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</cp:lastModifiedBy>
  <cp:revision>161</cp:revision>
  <dcterms:created xsi:type="dcterms:W3CDTF">2019-05-10T14:30:44Z</dcterms:created>
  <dcterms:modified xsi:type="dcterms:W3CDTF">2026-05-26T02:19:03Z</dcterms:modified>
</cp:coreProperties>
</file>